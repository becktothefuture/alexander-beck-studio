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f48e24ad864581" /><Relationship Type="http://schemas.openxmlformats.org/officeDocument/2006/relationships/extended-properties" Target="/docProps/app.xml" Id="R3f7fc34c7fae4653" /><Relationship Type="http://schemas.openxmlformats.org/officeDocument/2006/relationships/officeDocument" Target="/ppt/presentation.xml" Id="R9e92d78a9aca4da1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8ec6afa2129d4c84"/>
  </p:sldMasterIdLst>
  <p:notesMasterIdLst>
    <p:notesMasterId xmlns:r="http://schemas.openxmlformats.org/officeDocument/2006/relationships" r:id="Ra31a34fd16f34f85"/>
  </p:notesMasterIdLst>
  <p:sldIdLst>
    <p:sldId xmlns:r="http://schemas.openxmlformats.org/officeDocument/2006/relationships" id="256" r:id="R892a3a35d7194baf"/>
    <p:sldId xmlns:r="http://schemas.openxmlformats.org/officeDocument/2006/relationships" id="257" r:id="Rc1e277596611483a"/>
    <p:sldId xmlns:r="http://schemas.openxmlformats.org/officeDocument/2006/relationships" id="258" r:id="R6e9aa560a4d648a4"/>
    <p:sldId xmlns:r="http://schemas.openxmlformats.org/officeDocument/2006/relationships" id="259" r:id="R388235b65cbc4c8d"/>
    <p:sldId xmlns:r="http://schemas.openxmlformats.org/officeDocument/2006/relationships" id="260" r:id="R757a3b2cc3344a07"/>
    <p:sldId xmlns:r="http://schemas.openxmlformats.org/officeDocument/2006/relationships" id="261" r:id="R4ff156812dd34643"/>
    <p:sldId xmlns:r="http://schemas.openxmlformats.org/officeDocument/2006/relationships" id="262" r:id="R2b3bdd8cbe2e40c5"/>
    <p:sldId xmlns:r="http://schemas.openxmlformats.org/officeDocument/2006/relationships" id="263" r:id="Rfe0a1df861ac4e1c"/>
    <p:sldId xmlns:r="http://schemas.openxmlformats.org/officeDocument/2006/relationships" id="264" r:id="Rbaa010569e3443a8"/>
    <p:sldId xmlns:r="http://schemas.openxmlformats.org/officeDocument/2006/relationships" id="265" r:id="R15e7aca2f5e4409d"/>
    <p:sldId xmlns:r="http://schemas.openxmlformats.org/officeDocument/2006/relationships" id="266" r:id="R1d7a1d502fc24fb3"/>
    <p:sldId xmlns:r="http://schemas.openxmlformats.org/officeDocument/2006/relationships" id="267" r:id="R0270c20343be490b"/>
    <p:sldId xmlns:r="http://schemas.openxmlformats.org/officeDocument/2006/relationships" id="268" r:id="R1891af6e2a594d71"/>
    <p:sldId xmlns:r="http://schemas.openxmlformats.org/officeDocument/2006/relationships" id="269" r:id="Rb97772c129fd430a"/>
    <p:sldId xmlns:r="http://schemas.openxmlformats.org/officeDocument/2006/relationships" id="270" r:id="R572e96eb2c3a40d2"/>
    <p:sldId xmlns:r="http://schemas.openxmlformats.org/officeDocument/2006/relationships" id="271" r:id="R85fa4cf736914fc3"/>
    <p:sldId xmlns:r="http://schemas.openxmlformats.org/officeDocument/2006/relationships" id="272" r:id="R9f8762e486d04c5b"/>
    <p:sldId xmlns:r="http://schemas.openxmlformats.org/officeDocument/2006/relationships" id="273" r:id="Rba988a457117494e"/>
    <p:sldId xmlns:r="http://schemas.openxmlformats.org/officeDocument/2006/relationships" id="274" r:id="R38f2715702e140bc"/>
    <p:sldId xmlns:r="http://schemas.openxmlformats.org/officeDocument/2006/relationships" id="275" r:id="R486bec097eed45c6"/>
    <p:sldId xmlns:r="http://schemas.openxmlformats.org/officeDocument/2006/relationships" id="276" r:id="Rdc110baf31214974"/>
    <p:sldId xmlns:r="http://schemas.openxmlformats.org/officeDocument/2006/relationships" id="277" r:id="Rb406e308f980414c"/>
    <p:sldId xmlns:r="http://schemas.openxmlformats.org/officeDocument/2006/relationships" id="278" r:id="R276782c49f9c42fe"/>
    <p:sldId xmlns:r="http://schemas.openxmlformats.org/officeDocument/2006/relationships" id="279" r:id="R9aaa4ffd97f6420b"/>
    <p:sldId xmlns:r="http://schemas.openxmlformats.org/officeDocument/2006/relationships" id="280" r:id="R4fe38aab584c4d6a"/>
    <p:sldId xmlns:r="http://schemas.openxmlformats.org/officeDocument/2006/relationships" id="281" r:id="R0a616d9bfdff45a2"/>
    <p:sldId xmlns:r="http://schemas.openxmlformats.org/officeDocument/2006/relationships" id="282" r:id="Rf7d9700f857343de"/>
    <p:sldId xmlns:r="http://schemas.openxmlformats.org/officeDocument/2006/relationships" id="283" r:id="R07b693d8075a4fe8"/>
    <p:sldId xmlns:r="http://schemas.openxmlformats.org/officeDocument/2006/relationships" id="284" r:id="Rbf966b210fc247c0"/>
    <p:sldId xmlns:r="http://schemas.openxmlformats.org/officeDocument/2006/relationships" id="285" r:id="Rc1efff039b8d45f1"/>
    <p:sldId xmlns:r="http://schemas.openxmlformats.org/officeDocument/2006/relationships" id="286" r:id="Rf4d54def00fd46ea"/>
    <p:sldId xmlns:r="http://schemas.openxmlformats.org/officeDocument/2006/relationships" id="287" r:id="R0ff8ea711e1c410a"/>
    <p:sldId xmlns:r="http://schemas.openxmlformats.org/officeDocument/2006/relationships" id="288" r:id="Ra8800e5b0e834a1b"/>
    <p:sldId xmlns:r="http://schemas.openxmlformats.org/officeDocument/2006/relationships" id="289" r:id="Rf1a4a231d93249c6"/>
    <p:sldId xmlns:r="http://schemas.openxmlformats.org/officeDocument/2006/relationships" id="290" r:id="R5b8f699b22144243"/>
    <p:sldId xmlns:r="http://schemas.openxmlformats.org/officeDocument/2006/relationships" id="291" r:id="R50151d0ba10f4f12"/>
    <p:sldId xmlns:r="http://schemas.openxmlformats.org/officeDocument/2006/relationships" id="292" r:id="R5c6afe5fe69c4650"/>
    <p:sldId xmlns:r="http://schemas.openxmlformats.org/officeDocument/2006/relationships" id="293" r:id="Rf595f6d7f2c34364"/>
    <p:sldId xmlns:r="http://schemas.openxmlformats.org/officeDocument/2006/relationships" id="294" r:id="Rf80129aeb7904ad5"/>
    <p:sldId xmlns:r="http://schemas.openxmlformats.org/officeDocument/2006/relationships" id="295" r:id="R2bb14403fbe8415a"/>
    <p:sldId xmlns:r="http://schemas.openxmlformats.org/officeDocument/2006/relationships" id="296" r:id="R5b8a31e3ea55453c"/>
  </p:sldIdLst>
  <p:sldSz cx="12192000" cy="6858000"/>
  <p:notesSz cx="6858000" cy="9144000"/>
  <p:embeddedFontLst>
    <p:embeddedFont>
      <p:font typeface="OpenAI Sans"/>
      <p:regular xmlns:r="http://schemas.openxmlformats.org/officeDocument/2006/relationships" r:id="R71aa92ddb7bc484b"/>
      <p:bold xmlns:r="http://schemas.openxmlformats.org/officeDocument/2006/relationships" r:id="R434036ee019f4100"/>
      <p:italic xmlns:r="http://schemas.openxmlformats.org/officeDocument/2006/relationships" r:id="Rcd4dd5c157f943c6"/>
      <p:boldItalic xmlns:r="http://schemas.openxmlformats.org/officeDocument/2006/relationships" r:id="R0fc7574ea1e646b1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372594cca94c81" /><Relationship Type="http://schemas.openxmlformats.org/officeDocument/2006/relationships/slideMaster" Target="/ppt/slideMasters/slideMaster1.xml" Id="R8ec6afa2129d4c84" /><Relationship Type="http://schemas.openxmlformats.org/officeDocument/2006/relationships/notesMaster" Target="/ppt/notesMasters/notesMaster1.xml" Id="Ra31a34fd16f34f85" /><Relationship Type="http://schemas.openxmlformats.org/officeDocument/2006/relationships/presProps" Target="/ppt/presProps.xml" Id="Rb7a23f3bd2a44aca" /><Relationship Type="http://schemas.openxmlformats.org/officeDocument/2006/relationships/viewProps" Target="/ppt/viewProps.xml" Id="R8f04e960a4c541ae" /><Relationship Type="http://schemas.openxmlformats.org/officeDocument/2006/relationships/tableStyles" Target="/ppt/tableStyles.xml" Id="R4e40cba3130c4f13" /><Relationship Type="http://schemas.openxmlformats.org/officeDocument/2006/relationships/font" Target="/ppt/fonts/font.dat" Id="R71aa92ddb7bc484b" /><Relationship Type="http://schemas.openxmlformats.org/officeDocument/2006/relationships/font" Target="/ppt/fonts/font2.dat" Id="R434036ee019f4100" /><Relationship Type="http://schemas.openxmlformats.org/officeDocument/2006/relationships/font" Target="/ppt/fonts/font3.dat" Id="Rcd4dd5c157f943c6" /><Relationship Type="http://schemas.openxmlformats.org/officeDocument/2006/relationships/font" Target="/ppt/fonts/font4.dat" Id="R0fc7574ea1e646b1" /><Relationship Type="http://schemas.openxmlformats.org/officeDocument/2006/relationships/slide" Target="/ppt/slides/slide1.xml" Id="R892a3a35d7194baf" /><Relationship Type="http://schemas.openxmlformats.org/officeDocument/2006/relationships/slide" Target="/ppt/slides/slide2.xml" Id="Rc1e277596611483a" /><Relationship Type="http://schemas.openxmlformats.org/officeDocument/2006/relationships/slide" Target="/ppt/slides/slide3.xml" Id="R6e9aa560a4d648a4" /><Relationship Type="http://schemas.openxmlformats.org/officeDocument/2006/relationships/slide" Target="/ppt/slides/slide4.xml" Id="R388235b65cbc4c8d" /><Relationship Type="http://schemas.openxmlformats.org/officeDocument/2006/relationships/slide" Target="/ppt/slides/slide5.xml" Id="R757a3b2cc3344a07" /><Relationship Type="http://schemas.openxmlformats.org/officeDocument/2006/relationships/slide" Target="/ppt/slides/slide6.xml" Id="R4ff156812dd34643" /><Relationship Type="http://schemas.openxmlformats.org/officeDocument/2006/relationships/slide" Target="/ppt/slides/slide7.xml" Id="R2b3bdd8cbe2e40c5" /><Relationship Type="http://schemas.openxmlformats.org/officeDocument/2006/relationships/slide" Target="/ppt/slides/slide8.xml" Id="Rfe0a1df861ac4e1c" /><Relationship Type="http://schemas.openxmlformats.org/officeDocument/2006/relationships/slide" Target="/ppt/slides/slide9.xml" Id="Rbaa010569e3443a8" /><Relationship Type="http://schemas.openxmlformats.org/officeDocument/2006/relationships/slide" Target="/ppt/slides/slide10.xml" Id="R15e7aca2f5e4409d" /><Relationship Type="http://schemas.openxmlformats.org/officeDocument/2006/relationships/slide" Target="/ppt/slides/slide11.xml" Id="R1d7a1d502fc24fb3" /><Relationship Type="http://schemas.openxmlformats.org/officeDocument/2006/relationships/slide" Target="/ppt/slides/slide12.xml" Id="R0270c20343be490b" /><Relationship Type="http://schemas.openxmlformats.org/officeDocument/2006/relationships/slide" Target="/ppt/slides/slide13.xml" Id="R1891af6e2a594d71" /><Relationship Type="http://schemas.openxmlformats.org/officeDocument/2006/relationships/slide" Target="/ppt/slides/slide14.xml" Id="Rb97772c129fd430a" /><Relationship Type="http://schemas.openxmlformats.org/officeDocument/2006/relationships/slide" Target="/ppt/slides/slide15.xml" Id="R572e96eb2c3a40d2" /><Relationship Type="http://schemas.openxmlformats.org/officeDocument/2006/relationships/slide" Target="/ppt/slides/slide16.xml" Id="R85fa4cf736914fc3" /><Relationship Type="http://schemas.openxmlformats.org/officeDocument/2006/relationships/slide" Target="/ppt/slides/slide17.xml" Id="R9f8762e486d04c5b" /><Relationship Type="http://schemas.openxmlformats.org/officeDocument/2006/relationships/slide" Target="/ppt/slides/slide18.xml" Id="Rba988a457117494e" /><Relationship Type="http://schemas.openxmlformats.org/officeDocument/2006/relationships/slide" Target="/ppt/slides/slide19.xml" Id="R38f2715702e140bc" /><Relationship Type="http://schemas.openxmlformats.org/officeDocument/2006/relationships/slide" Target="/ppt/slides/slide20.xml" Id="R486bec097eed45c6" /><Relationship Type="http://schemas.openxmlformats.org/officeDocument/2006/relationships/slide" Target="/ppt/slides/slide21.xml" Id="Rdc110baf31214974" /><Relationship Type="http://schemas.openxmlformats.org/officeDocument/2006/relationships/slide" Target="/ppt/slides/slide22.xml" Id="Rb406e308f980414c" /><Relationship Type="http://schemas.openxmlformats.org/officeDocument/2006/relationships/slide" Target="/ppt/slides/slide23.xml" Id="R276782c49f9c42fe" /><Relationship Type="http://schemas.openxmlformats.org/officeDocument/2006/relationships/slide" Target="/ppt/slides/slide24.xml" Id="R9aaa4ffd97f6420b" /><Relationship Type="http://schemas.openxmlformats.org/officeDocument/2006/relationships/slide" Target="/ppt/slides/slide25.xml" Id="R4fe38aab584c4d6a" /><Relationship Type="http://schemas.openxmlformats.org/officeDocument/2006/relationships/slide" Target="/ppt/slides/slide26.xml" Id="R0a616d9bfdff45a2" /><Relationship Type="http://schemas.openxmlformats.org/officeDocument/2006/relationships/slide" Target="/ppt/slides/slide27.xml" Id="Rf7d9700f857343de" /><Relationship Type="http://schemas.openxmlformats.org/officeDocument/2006/relationships/slide" Target="/ppt/slides/slide28.xml" Id="R07b693d8075a4fe8" /><Relationship Type="http://schemas.openxmlformats.org/officeDocument/2006/relationships/slide" Target="/ppt/slides/slide29.xml" Id="Rbf966b210fc247c0" /><Relationship Type="http://schemas.openxmlformats.org/officeDocument/2006/relationships/slide" Target="/ppt/slides/slide30.xml" Id="Rc1efff039b8d45f1" /><Relationship Type="http://schemas.openxmlformats.org/officeDocument/2006/relationships/slide" Target="/ppt/slides/slide31.xml" Id="Rf4d54def00fd46ea" /><Relationship Type="http://schemas.openxmlformats.org/officeDocument/2006/relationships/slide" Target="/ppt/slides/slide32.xml" Id="R0ff8ea711e1c410a" /><Relationship Type="http://schemas.openxmlformats.org/officeDocument/2006/relationships/slide" Target="/ppt/slides/slide33.xml" Id="Ra8800e5b0e834a1b" /><Relationship Type="http://schemas.openxmlformats.org/officeDocument/2006/relationships/slide" Target="/ppt/slides/slide34.xml" Id="Rf1a4a231d93249c6" /><Relationship Type="http://schemas.openxmlformats.org/officeDocument/2006/relationships/slide" Target="/ppt/slides/slide35.xml" Id="R5b8f699b22144243" /><Relationship Type="http://schemas.openxmlformats.org/officeDocument/2006/relationships/slide" Target="/ppt/slides/slide36.xml" Id="R50151d0ba10f4f12" /><Relationship Type="http://schemas.openxmlformats.org/officeDocument/2006/relationships/slide" Target="/ppt/slides/slide37.xml" Id="R5c6afe5fe69c4650" /><Relationship Type="http://schemas.openxmlformats.org/officeDocument/2006/relationships/slide" Target="/ppt/slides/slide38.xml" Id="Rf595f6d7f2c34364" /><Relationship Type="http://schemas.openxmlformats.org/officeDocument/2006/relationships/slide" Target="/ppt/slides/slide39.xml" Id="Rf80129aeb7904ad5" /><Relationship Type="http://schemas.openxmlformats.org/officeDocument/2006/relationships/slide" Target="/ppt/slides/slide40.xml" Id="R2bb14403fbe8415a" /><Relationship Type="http://schemas.openxmlformats.org/officeDocument/2006/relationships/slide" Target="/ppt/slides/slide41.xml" Id="R5b8a31e3ea5545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4b52f61eb84e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2cfbefa8ac4cd1" /><Relationship Type="http://schemas.openxmlformats.org/officeDocument/2006/relationships/notesMaster" Target="/ppt/notesMasters/notesMaster1.xml" Id="R6e0460a21b9b4c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045ebe5997402c" /><Relationship Type="http://schemas.openxmlformats.org/officeDocument/2006/relationships/notesMaster" Target="/ppt/notesMasters/notesMaster1.xml" Id="R4086011f39844f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cda2d599d04b09" /><Relationship Type="http://schemas.openxmlformats.org/officeDocument/2006/relationships/notesMaster" Target="/ppt/notesMasters/notesMaster1.xml" Id="R1594f141e1434e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d965c17b3f45b4" /><Relationship Type="http://schemas.openxmlformats.org/officeDocument/2006/relationships/notesMaster" Target="/ppt/notesMasters/notesMaster1.xml" Id="R44b7c88e5f3744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7fa8257b324213" /><Relationship Type="http://schemas.openxmlformats.org/officeDocument/2006/relationships/notesMaster" Target="/ppt/notesMasters/notesMaster1.xml" Id="R4382a92202ca4a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59ce87d4b54314" /><Relationship Type="http://schemas.openxmlformats.org/officeDocument/2006/relationships/notesMaster" Target="/ppt/notesMasters/notesMaster1.xml" Id="R2e5130e8aaa946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3a997b70b849c3" /><Relationship Type="http://schemas.openxmlformats.org/officeDocument/2006/relationships/notesMaster" Target="/ppt/notesMasters/notesMaster1.xml" Id="Rb9bd05d01caa4d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d76c0e4a712493e" /><Relationship Type="http://schemas.openxmlformats.org/officeDocument/2006/relationships/notesMaster" Target="/ppt/notesMasters/notesMaster1.xml" Id="R7e4dd656647246f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5d2f99f5394567" /><Relationship Type="http://schemas.openxmlformats.org/officeDocument/2006/relationships/notesMaster" Target="/ppt/notesMasters/notesMaster1.xml" Id="R3888d93d1960441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0e826efd3b340bf" /><Relationship Type="http://schemas.openxmlformats.org/officeDocument/2006/relationships/notesMaster" Target="/ppt/notesMasters/notesMaster1.xml" Id="Re92428d9b88043f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2755419f1484c8e" /><Relationship Type="http://schemas.openxmlformats.org/officeDocument/2006/relationships/notesMaster" Target="/ppt/notesMasters/notesMaster1.xml" Id="R6a9cd753f0d54c9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0196c1b31cf463f" /><Relationship Type="http://schemas.openxmlformats.org/officeDocument/2006/relationships/notesMaster" Target="/ppt/notesMasters/notesMaster1.xml" Id="R16ea133c33b743a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73a5b5f8bd14446" /><Relationship Type="http://schemas.openxmlformats.org/officeDocument/2006/relationships/notesMaster" Target="/ppt/notesMasters/notesMaster1.xml" Id="Re83fe0fe563346a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4ac1f6b919f407f" /><Relationship Type="http://schemas.openxmlformats.org/officeDocument/2006/relationships/notesMaster" Target="/ppt/notesMasters/notesMaster1.xml" Id="Ree420e17a4d141e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5e7d5764a334d68" /><Relationship Type="http://schemas.openxmlformats.org/officeDocument/2006/relationships/notesMaster" Target="/ppt/notesMasters/notesMaster1.xml" Id="Rc889c99185ec481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feacd4a8bdf4d43" /><Relationship Type="http://schemas.openxmlformats.org/officeDocument/2006/relationships/notesMaster" Target="/ppt/notesMasters/notesMaster1.xml" Id="Rab3764c53c334f7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05f383d2b09467c" /><Relationship Type="http://schemas.openxmlformats.org/officeDocument/2006/relationships/notesMaster" Target="/ppt/notesMasters/notesMaster1.xml" Id="R2f230abde1a24fd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d9aee334f8e4001" /><Relationship Type="http://schemas.openxmlformats.org/officeDocument/2006/relationships/notesMaster" Target="/ppt/notesMasters/notesMaster1.xml" Id="Rdd4edf1ff9884c3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0ab1f6d52304835" /><Relationship Type="http://schemas.openxmlformats.org/officeDocument/2006/relationships/notesMaster" Target="/ppt/notesMasters/notesMaster1.xml" Id="Re8645216107c4f4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f1df29dab734e76" /><Relationship Type="http://schemas.openxmlformats.org/officeDocument/2006/relationships/notesMaster" Target="/ppt/notesMasters/notesMaster1.xml" Id="Reaaee47892f4432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7199cead3e243ed" /><Relationship Type="http://schemas.openxmlformats.org/officeDocument/2006/relationships/notesMaster" Target="/ppt/notesMasters/notesMaster1.xml" Id="R3829a35a1c5f4f9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8d794b2580f4e95" /><Relationship Type="http://schemas.openxmlformats.org/officeDocument/2006/relationships/notesMaster" Target="/ppt/notesMasters/notesMaster1.xml" Id="Rbf9f4df6c4174fb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224d89219944877" /><Relationship Type="http://schemas.openxmlformats.org/officeDocument/2006/relationships/notesMaster" Target="/ppt/notesMasters/notesMaster1.xml" Id="Reae36e43c91f42f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b09e2d2d64a4b0d" /><Relationship Type="http://schemas.openxmlformats.org/officeDocument/2006/relationships/notesMaster" Target="/ppt/notesMasters/notesMaster1.xml" Id="Rbf8783d88424471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54227d1af6240f3" /><Relationship Type="http://schemas.openxmlformats.org/officeDocument/2006/relationships/notesMaster" Target="/ppt/notesMasters/notesMaster1.xml" Id="Ref62ff3ac970430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1cf49d03de241aa" /><Relationship Type="http://schemas.openxmlformats.org/officeDocument/2006/relationships/notesMaster" Target="/ppt/notesMasters/notesMaster1.xml" Id="Rec0e8e91469c4b2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2f00eeaf22b4303" /><Relationship Type="http://schemas.openxmlformats.org/officeDocument/2006/relationships/notesMaster" Target="/ppt/notesMasters/notesMaster1.xml" Id="R7f022654940645d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fb9f810859b461b" /><Relationship Type="http://schemas.openxmlformats.org/officeDocument/2006/relationships/notesMaster" Target="/ppt/notesMasters/notesMaster1.xml" Id="Rb6a6eccd56f84e9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e1d8609d5474f12" /><Relationship Type="http://schemas.openxmlformats.org/officeDocument/2006/relationships/notesMaster" Target="/ppt/notesMasters/notesMaster1.xml" Id="Rd62dfff0aaac48e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50c4dc0a1054744" /><Relationship Type="http://schemas.openxmlformats.org/officeDocument/2006/relationships/notesMaster" Target="/ppt/notesMasters/notesMaster1.xml" Id="Rf9000cd2a5524c5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d5db22dae9c48bf" /><Relationship Type="http://schemas.openxmlformats.org/officeDocument/2006/relationships/notesMaster" Target="/ppt/notesMasters/notesMaster1.xml" Id="Ra2fc94121a5b45a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ab9e8e8d74948e5" /><Relationship Type="http://schemas.openxmlformats.org/officeDocument/2006/relationships/notesMaster" Target="/ppt/notesMasters/notesMaster1.xml" Id="Rb19c4b282de64bc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0c2d91fad0c4d75" /><Relationship Type="http://schemas.openxmlformats.org/officeDocument/2006/relationships/notesMaster" Target="/ppt/notesMasters/notesMaster1.xml" Id="R1a23850a65a44c4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f17b1510901431b" /><Relationship Type="http://schemas.openxmlformats.org/officeDocument/2006/relationships/notesMaster" Target="/ppt/notesMasters/notesMaster1.xml" Id="R21248fd6c2db4ff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257c2d8b6034009" /><Relationship Type="http://schemas.openxmlformats.org/officeDocument/2006/relationships/notesMaster" Target="/ppt/notesMasters/notesMaster1.xml" Id="R010694a064334e2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fa3e82845ba449b" /><Relationship Type="http://schemas.openxmlformats.org/officeDocument/2006/relationships/notesMaster" Target="/ppt/notesMasters/notesMaster1.xml" Id="Ra8431a15105d47c3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2f5c7cf117c8446b" /><Relationship Type="http://schemas.openxmlformats.org/officeDocument/2006/relationships/notesMaster" Target="/ppt/notesMasters/notesMaster1.xml" Id="R5e842d1a352f42e1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84c23356778405a" /><Relationship Type="http://schemas.openxmlformats.org/officeDocument/2006/relationships/notesMaster" Target="/ppt/notesMasters/notesMaster1.xml" Id="Rd9a8468eeb5b497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2d8407f1257d4cf3" /><Relationship Type="http://schemas.openxmlformats.org/officeDocument/2006/relationships/notesMaster" Target="/ppt/notesMasters/notesMaster1.xml" Id="R481f6023a6a04403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45d5c10bdc2642ea" /><Relationship Type="http://schemas.openxmlformats.org/officeDocument/2006/relationships/notesMaster" Target="/ppt/notesMasters/notesMaster1.xml" Id="R9221679d692e435d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fc144eb76b9d4936" /><Relationship Type="http://schemas.openxmlformats.org/officeDocument/2006/relationships/notesMaster" Target="/ppt/notesMasters/notesMaster1.xml" Id="R0bf2865cd80343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Communication job: by the end, Alexander should know which About-page model to pursue, why it fits the evidence, and what to prepare next.</a:t>
            </a:r>
          </a:p>
          <a:p xmlns:a="http://schemas.openxmlformats.org/drawingml/2006/main">
            <a:r>
              <a:t>Detailed evidence: docs/research/about-page-direction/research-catalogue.json and research-catalogue.txt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Detailed evidence: docs/research/about-page-direction/research-catalogue.json and research-catalogue.txt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Detailed evidence: docs/research/about-page-direction/research-catalogue.json and research-catalogue.txt</a:t>
            </a:r>
          </a:p>
          <a:p xmlns:a="http://schemas.openxmlformats.org/drawingml/2006/main">
            <a:r>
              <a:t>Metrics: {"site_count":40,"lane_counts":{"Awwwards":14,"The Webby Awards":13,"CSS Design Awards":13},"median_word_count":354,"mean_word_count":442,"at_or_below_220_words":13,"at_or_below_300_words":18,"shortest_word_count":80,"longest_word_count":2311}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Detailed evidence: docs/research/about-page-direction/research-catalogue.json and research-catalogue.txt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Current live page captured 12 July 2026: https://www.beck.fyi/about.html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Repeated pattern across all three research lanes.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Detailed evidence: docs/research/about-page-direction/research-catalogue.json and research-catalogue.txt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Detailed evidence: docs/research/about-page-direction/research-catalogue.json and research-catalogue.txt</a:t>
            </a:r>
          </a:p>
          <a:p xmlns:a="http://schemas.openxmlformats.org/drawingml/2006/main">
            <a:r>
              <a:t>Counts computed from the 40-site catalogue.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Detailed evidence: docs/research/about-page-direction/research-catalogue.json and research-catalogue.txt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Detailed evidence: docs/research/about-page-direction/research-catalogue.json and research-catalogue.txt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Detailed evidence: docs/research/about-page-direction/research-catalogue.json and research-catalogue.txt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Pattern synthesized from Maria Vareva, Antoine Wodniack, Camila Rosa, Giacomo Agnello Modica, Thibaud Fellay and Veronica Zubakova.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Detailed evidence: docs/research/about-page-direction/research-catalogue.json and research-catalogue.txt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Award source: https://www.cssdesignawards.com/sites/maria-vareva/48730/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Live About: https://mariavareva.com/about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Full capture: docs/research/about-page-direction/evidence/fwa-cssda/screenshots/07-maria-vareva-about.png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Award source: https://winners.webbyawards.com/2025/websites-and-mobile-sites/features-design/best-home-page/332383/aw-portfolio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Live About: https://wodniack.dev/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Full capture: docs/research/about-page-direction/evidence/webby/screenshots/12-antoine-wodniack-about.png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Award source: https://www.cssdesignawards.com/sites/camila-rosa-portfolio/48629/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Live About: https://www.camilarosa.net/about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Full capture: docs/research/about-page-direction/evidence/fwa-cssda/screenshots/01-camila-rosa-about.png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Award source: https://www.cssdesignawards.com/website-gallery?industry=art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Live About: https://giacomoagnellomodica.com/info/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Full capture: docs/research/about-page-direction/evidence/fwa-cssda/screenshots/13-giacomo-agnello-modica-info.png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Award source: https://www.awwwards.com/sites/thibaud-fellay-portfolio-24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Live About: https://thibaud.film/about/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Full capture: docs/research/about-page-direction/evidence/awwwards/thibaud-fellay-about-full.png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Award source: https://www.awwwards.com/sites/veronica-zubakova-portfolio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Live About: https://veronicazubakova.com/about/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Full capture: docs/research/about-page-direction/evidence/awwwards/veronica-zubakova-about-full.png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Award source: https://winners.webbyawards.com/2025/websites-and-mobile-sites/features-design/best-home-page/332383/aw-portfolio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Live About: https://wodniack.dev/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Video: docs/research/about-page-direction/evidence/webby/video/01-antoine-wodniack-scroll.mp4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Award source: https://www.cssdesignawards.com/website-gallery?industry=art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Live About: https://giacomoagnellomodica.com/info/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Video: docs/research/about-page-direction/evidence/fwa-cssda/videos/giacomo-info-scroll.mp4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Existing repo evidence: docs/simulations/spatial-scan.md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Video: docs/research/about-page-direction/evidence/spatial-scan-scroll.mp4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Detailed evidence: docs/research/about-page-direction/research-catalogue.json and research-catalogue.txt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Detailed evidence: docs/research/about-page-direction/research-catalogue.json and research-catalogue.txt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 is a content budget, not a forced scroll duration. Native scrolling remains under user control.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Budget recommendation synthesizes the strongest one-minute references across all three lanes.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Copy direction also aligns with docs/reference/TONE-OF-VOICE.md.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Accessibility requirement: every interaction has keyboard/touch/reduced-motion parity and is optional to the core narrative.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 source: docs/simulations/spatial-scan.md and react-app/app/src/routes/spatial-scan/SpatialScanPointCloud.jsx.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Detailed evidence: docs/research/about-page-direction/research-catalogue.json and research-catalogue.txt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Concept image generated from the current live About and Home screenshots. It is a directional sketch, not production UI or approved final copy.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Concept image generated from the current live About and Home screenshots. It is a directional sketch, not production UI or approved final copy.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Concept image generated from the current live About and Home screenshots. It is a directional sketch, not production UI or approved final copy.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LinkedIn and current portfolio content are provisional raw material only. Public copy should be interview-verified.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Recommended next step: interview-led content definition after creative-direction approval.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Detailed evidence: docs/research/about-page-direction/research-catalogue.json and research-catalogue.txt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David Heckhoff Portfolio</a:t>
            </a:r>
          </a:p>
          <a:p xmlns:a="http://schemas.openxmlformats.org/drawingml/2006/main">
            <a:r>
              <a:t>Award source: https://www.awwwards.com/sites/david-heckhoff-portfolio</a:t>
            </a:r>
          </a:p>
          <a:p xmlns:a="http://schemas.openxmlformats.org/drawingml/2006/main">
            <a:r>
              <a:t>Live About: https://david-hckh.com/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Giats — Portfolio</a:t>
            </a:r>
          </a:p>
          <a:p xmlns:a="http://schemas.openxmlformats.org/drawingml/2006/main">
            <a:r>
              <a:t>Award source: https://www.awwwards.com/sites/https-giats-me</a:t>
            </a:r>
          </a:p>
          <a:p xmlns:a="http://schemas.openxmlformats.org/drawingml/2006/main">
            <a:r>
              <a:t>Live About: https://giats.me/about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Pedro Matos Chaves · Design</a:t>
            </a:r>
          </a:p>
          <a:p xmlns:a="http://schemas.openxmlformats.org/drawingml/2006/main">
            <a:r>
              <a:t>Award source: https://www.awwwards.com/sites/pedro-matos-chaves-design</a:t>
            </a:r>
          </a:p>
          <a:p xmlns:a="http://schemas.openxmlformats.org/drawingml/2006/main">
            <a:r>
              <a:t>Live About: https://pedromc.design/about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Thibaud Fellay — Portfolio 24</a:t>
            </a:r>
          </a:p>
          <a:p xmlns:a="http://schemas.openxmlformats.org/drawingml/2006/main">
            <a:r>
              <a:t>Award source: https://www.awwwards.com/sites/thibaud-fellay-portfolio-24</a:t>
            </a:r>
          </a:p>
          <a:p xmlns:a="http://schemas.openxmlformats.org/drawingml/2006/main">
            <a:r>
              <a:t>Live About: https://thibaud.film/about/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Jhosue Mesias — Portfolio</a:t>
            </a:r>
          </a:p>
          <a:p xmlns:a="http://schemas.openxmlformats.org/drawingml/2006/main">
            <a:r>
              <a:t>Award source: https://www.awwwards.com/sites/jhosue-mesias-portfolio</a:t>
            </a:r>
          </a:p>
          <a:p xmlns:a="http://schemas.openxmlformats.org/drawingml/2006/main">
            <a:r>
              <a:t>Live About: https://www.jhosuemesias.com/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Veronica Zubakova — Portfolio</a:t>
            </a:r>
          </a:p>
          <a:p xmlns:a="http://schemas.openxmlformats.org/drawingml/2006/main">
            <a:r>
              <a:t>Award source: https://www.awwwards.com/sites/veronica-zubakova-portfolio</a:t>
            </a:r>
          </a:p>
          <a:p xmlns:a="http://schemas.openxmlformats.org/drawingml/2006/main">
            <a:r>
              <a:t>Live About: https://veronicazubakova.com/about/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Sai Narayanan</a:t>
            </a:r>
          </a:p>
          <a:p xmlns:a="http://schemas.openxmlformats.org/drawingml/2006/main">
            <a:r>
              <a:t>Award source: https://www.awwwards.com/sites/sai-narayanan</a:t>
            </a:r>
          </a:p>
          <a:p xmlns:a="http://schemas.openxmlformats.org/drawingml/2006/main">
            <a:r>
              <a:t>Live About: https://www.sainarayanan.com/about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Grégory Lallé — 24</a:t>
            </a:r>
          </a:p>
          <a:p xmlns:a="http://schemas.openxmlformats.org/drawingml/2006/main">
            <a:r>
              <a:t>Award source: https://www.awwwards.com/sites/gregory-lalle-24</a:t>
            </a:r>
          </a:p>
          <a:p xmlns:a="http://schemas.openxmlformats.org/drawingml/2006/main">
            <a:r>
              <a:t>Live About: https://gregorylalle.com/about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Jack Elder Design</a:t>
            </a:r>
          </a:p>
          <a:p xmlns:a="http://schemas.openxmlformats.org/drawingml/2006/main">
            <a:r>
              <a:t>Award source: https://www.awwwards.com/sites/jack-elder-design</a:t>
            </a:r>
          </a:p>
          <a:p xmlns:a="http://schemas.openxmlformats.org/drawingml/2006/main">
            <a:r>
              <a:t>Live About: https://www.jackelder.design/#pixel-scroll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Nalaprasad — Portfolio</a:t>
            </a:r>
          </a:p>
          <a:p xmlns:a="http://schemas.openxmlformats.org/drawingml/2006/main">
            <a:r>
              <a:t>Award source: https://www.awwwards.com/sites/nalaprasad-portfolio</a:t>
            </a:r>
          </a:p>
          <a:p xmlns:a="http://schemas.openxmlformats.org/drawingml/2006/main">
            <a:r>
              <a:t>Live About: https://nalaprasad.com/about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Luc Hohler Design</a:t>
            </a:r>
          </a:p>
          <a:p xmlns:a="http://schemas.openxmlformats.org/drawingml/2006/main">
            <a:r>
              <a:t>Award source: https://www.awwwards.com/sites/luc-hohler-design</a:t>
            </a:r>
          </a:p>
          <a:p xmlns:a="http://schemas.openxmlformats.org/drawingml/2006/main">
            <a:r>
              <a:t>Live About: https://luchohler.com/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Tomoya Okada — Portfolio v7</a:t>
            </a:r>
          </a:p>
          <a:p xmlns:a="http://schemas.openxmlformats.org/drawingml/2006/main">
            <a:r>
              <a:t>Award source: https://www.awwwards.com/sites/portfolio-ver7-tomoya-okada</a:t>
            </a:r>
          </a:p>
          <a:p xmlns:a="http://schemas.openxmlformats.org/drawingml/2006/main">
            <a:r>
              <a:t>Live About: https://v7.usestate.org/about/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Dennis Snellenberg — Portfolio</a:t>
            </a:r>
          </a:p>
          <a:p xmlns:a="http://schemas.openxmlformats.org/drawingml/2006/main">
            <a:r>
              <a:t>Award source: https://www.awwwards.com/sites/dennis-snellenberg-portfolio</a:t>
            </a:r>
          </a:p>
          <a:p xmlns:a="http://schemas.openxmlformats.org/drawingml/2006/main">
            <a:r>
              <a:t>Live About: https://dennissnellenberg.com/about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Agustin Burgos — Portfolio</a:t>
            </a:r>
          </a:p>
          <a:p xmlns:a="http://schemas.openxmlformats.org/drawingml/2006/main">
            <a:r>
              <a:t>Award source: https://www.awwwards.com/sites/agustin-burgos-portfolio</a:t>
            </a:r>
          </a:p>
          <a:p xmlns:a="http://schemas.openxmlformats.org/drawingml/2006/main">
            <a:r>
              <a:t>Live About: https://agustinburgos.com/about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Grilled Pixels - Adam Roberts</a:t>
            </a:r>
          </a:p>
          <a:p xmlns:a="http://schemas.openxmlformats.org/drawingml/2006/main">
            <a:r>
              <a:t>Award source: https://winners.webbyawards.com/winners/websites-and-mobile-sites/general-desktop-mobile-sites/professional-services-self-promotion</a:t>
            </a:r>
          </a:p>
          <a:p xmlns:a="http://schemas.openxmlformats.org/drawingml/2006/main">
            <a:r>
              <a:t>Live About: https://www.grilledpixels.com/about/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Won J. You Studios - My Story</a:t>
            </a:r>
          </a:p>
          <a:p xmlns:a="http://schemas.openxmlformats.org/drawingml/2006/main">
            <a:r>
              <a:t>Award source: https://winners.webbyawards.com/winners/websites-and-mobile-sites/general-desktop-mobile-sites/professional-services-self-promotion</a:t>
            </a:r>
          </a:p>
          <a:p xmlns:a="http://schemas.openxmlformats.org/drawingml/2006/main">
            <a:r>
              <a:t>Live About: https://wonjyou.studio/about/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Righteous Creative</a:t>
            </a:r>
          </a:p>
          <a:p xmlns:a="http://schemas.openxmlformats.org/drawingml/2006/main">
            <a:r>
              <a:t>Award source: https://winners.webbyawards.com/winners/websites-and-mobile-sites/general-desktop-mobile-sites/professional-services-self-promotion</a:t>
            </a:r>
          </a:p>
          <a:p xmlns:a="http://schemas.openxmlformats.org/drawingml/2006/main">
            <a:r>
              <a:t>Live About: https://righteouscreative.com/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Fiddle.Digital</a:t>
            </a:r>
          </a:p>
          <a:p xmlns:a="http://schemas.openxmlformats.org/drawingml/2006/main">
            <a:r>
              <a:t>Award source: https://winners.webbyawards.com/2025/websites-and-mobile-sites/general-desktop-mobile-sites/professional-services-self-promotion/339211/fiddledigital-design-agency</a:t>
            </a:r>
          </a:p>
          <a:p xmlns:a="http://schemas.openxmlformats.org/drawingml/2006/main">
            <a:r>
              <a:t>Live About: https://fiddle.digital/about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Raw Materials - An Unusual Design Company</a:t>
            </a:r>
          </a:p>
          <a:p xmlns:a="http://schemas.openxmlformats.org/drawingml/2006/main">
            <a:r>
              <a:t>Award source: https://winners.webbyawards.com/2024/websites-and-mobile-sites/features-design/best-navigationstructure/281127/raw-materials--an-unusual-design-company</a:t>
            </a:r>
          </a:p>
          <a:p xmlns:a="http://schemas.openxmlformats.org/drawingml/2006/main">
            <a:r>
              <a:t>Live About: https://www.therawmaterials.com/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Lusion - About Us</a:t>
            </a:r>
          </a:p>
          <a:p xmlns:a="http://schemas.openxmlformats.org/drawingml/2006/main">
            <a:r>
              <a:t>Award source: https://winners.webbyawards.com/2024/websites-and-mobile-sites/mobile-features-design/best-mobile-visual-design-aesthetic-mobile-features/281405/lusion</a:t>
            </a:r>
          </a:p>
          <a:p xmlns:a="http://schemas.openxmlformats.org/drawingml/2006/main">
            <a:r>
              <a:t>Live About: https://lusion.co/about/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Locomotive - Agency</a:t>
            </a:r>
          </a:p>
          <a:p xmlns:a="http://schemas.openxmlformats.org/drawingml/2006/main">
            <a:r>
              <a:t>Award source: https://winners.webbyawards.com/winners/websites-and-mobile-sites/general-desktop-mobile-sites/professional-services-self-promotion</a:t>
            </a:r>
          </a:p>
          <a:p xmlns:a="http://schemas.openxmlformats.org/drawingml/2006/main">
            <a:r>
              <a:t>Live About: https://locomotive.ca/en/agency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Someoddpilot - About</a:t>
            </a:r>
          </a:p>
          <a:p xmlns:a="http://schemas.openxmlformats.org/drawingml/2006/main">
            <a:r>
              <a:t>Award source: https://winners.webbyawards.com/2024/websites-and-mobile-sites/general-desktop-mobile-sites/professional-services-self-promotion/294858/someoddpilot</a:t>
            </a:r>
          </a:p>
          <a:p xmlns:a="http://schemas.openxmlformats.org/drawingml/2006/main">
            <a:r>
              <a:t>Live About: https://someoddpilot.com/about/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Better Off Studio - The Lookback</a:t>
            </a:r>
          </a:p>
          <a:p xmlns:a="http://schemas.openxmlformats.org/drawingml/2006/main">
            <a:r>
              <a:t>Award source: https://winners.webbyawards.com/winners/websites-and-mobile-sites/general-desktop-mobile-sites/professional-services-self-promotion</a:t>
            </a:r>
          </a:p>
          <a:p xmlns:a="http://schemas.openxmlformats.org/drawingml/2006/main">
            <a:r>
              <a:t>Live About: https://tlb.betteroff.studio/about/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Metalab - About</a:t>
            </a:r>
          </a:p>
          <a:p xmlns:a="http://schemas.openxmlformats.org/drawingml/2006/main">
            <a:r>
              <a:t>Award source: https://winners.webbyawards.com/winners/websites-and-mobile-sites/general-desktop-mobile-sites/professional-services-self-promotion</a:t>
            </a:r>
          </a:p>
          <a:p xmlns:a="http://schemas.openxmlformats.org/drawingml/2006/main">
            <a:r>
              <a:t>Live About: https://www.metalab.com/about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Dops Agency</a:t>
            </a:r>
          </a:p>
          <a:p xmlns:a="http://schemas.openxmlformats.org/drawingml/2006/main">
            <a:r>
              <a:t>Award source: https://winners.webbyawards.com/winners/websites-and-mobile-sites/general-desktop-mobile-sites/professional-services-self-promotion</a:t>
            </a:r>
          </a:p>
          <a:p xmlns:a="http://schemas.openxmlformats.org/drawingml/2006/main">
            <a:r>
              <a:t>Live About: https://dops.agency/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AW Portfolio - Antoine Wodniack</a:t>
            </a:r>
          </a:p>
          <a:p xmlns:a="http://schemas.openxmlformats.org/drawingml/2006/main">
            <a:r>
              <a:t>Award source: https://winners.webbyawards.com/2025/websites-and-mobile-sites/features-design/best-home-page/332383/aw-portfolio</a:t>
            </a:r>
          </a:p>
          <a:p xmlns:a="http://schemas.openxmlformats.org/drawingml/2006/main">
            <a:r>
              <a:t>Live About: https://wodniack.dev/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Mark Woodland</a:t>
            </a:r>
          </a:p>
          <a:p xmlns:a="http://schemas.openxmlformats.org/drawingml/2006/main">
            <a:r>
              <a:t>Award source: https://winners.webbyawards.com/2026/websites-and-mobile-sites/features-design/best-home-page/363849/mark-woodland</a:t>
            </a:r>
          </a:p>
          <a:p xmlns:a="http://schemas.openxmlformats.org/drawingml/2006/main">
            <a:r>
              <a:t>Live About: https://markwoodland.com.au/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Camila Rosa</a:t>
            </a:r>
          </a:p>
          <a:p xmlns:a="http://schemas.openxmlformats.org/drawingml/2006/main">
            <a:r>
              <a:t>Award source: https://www.cssdesignawards.com/sites/camila-rosa-portfolio/48629/</a:t>
            </a:r>
          </a:p>
          <a:p xmlns:a="http://schemas.openxmlformats.org/drawingml/2006/main">
            <a:r>
              <a:t>Live About: https://www.camilarosa.net/about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Elsa Hanneke</a:t>
            </a:r>
          </a:p>
          <a:p xmlns:a="http://schemas.openxmlformats.org/drawingml/2006/main">
            <a:r>
              <a:t>Award source: https://www.cssdesignawards.com/sites/elsa-hanneke/48653/</a:t>
            </a:r>
          </a:p>
          <a:p xmlns:a="http://schemas.openxmlformats.org/drawingml/2006/main">
            <a:r>
              <a:t>Live About: https://elsa.works/about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Wendy Andrade</a:t>
            </a:r>
          </a:p>
          <a:p xmlns:a="http://schemas.openxmlformats.org/drawingml/2006/main">
            <a:r>
              <a:t>Award source: https://www.cssdesignawards.com/sites/wendy-andrade/48473/</a:t>
            </a:r>
          </a:p>
          <a:p xmlns:a="http://schemas.openxmlformats.org/drawingml/2006/main">
            <a:r>
              <a:t>Live About: https://www.wendyandrade.co/en/bio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Ania Melnik</a:t>
            </a:r>
          </a:p>
          <a:p xmlns:a="http://schemas.openxmlformats.org/drawingml/2006/main">
            <a:r>
              <a:t>Award source: https://www.cssdesignawards.com/sites/ania-melnik-portfolio/47394/</a:t>
            </a:r>
          </a:p>
          <a:p xmlns:a="http://schemas.openxmlformats.org/drawingml/2006/main">
            <a:r>
              <a:t>Live About: https://amelnik.com/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Alex Ryan Design</a:t>
            </a:r>
          </a:p>
          <a:p xmlns:a="http://schemas.openxmlformats.org/drawingml/2006/main">
            <a:r>
              <a:t>Award source: https://www.cssdesignawards.com/website-gallery?industry=graphic+design&amp;page=1</a:t>
            </a:r>
          </a:p>
          <a:p xmlns:a="http://schemas.openxmlformats.org/drawingml/2006/main">
            <a:r>
              <a:t>Live About: https://www.alexryan.design/about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Luca Ravanelli</a:t>
            </a:r>
          </a:p>
          <a:p xmlns:a="http://schemas.openxmlformats.org/drawingml/2006/main">
            <a:r>
              <a:t>Award source: https://www.cssdesignawards.com/sites/luca-ravanelli-portfolio/48733/</a:t>
            </a:r>
          </a:p>
          <a:p xmlns:a="http://schemas.openxmlformats.org/drawingml/2006/main">
            <a:r>
              <a:t>Live About: https://lucaravanelli.com/about/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Maria Vareva</a:t>
            </a:r>
          </a:p>
          <a:p xmlns:a="http://schemas.openxmlformats.org/drawingml/2006/main">
            <a:r>
              <a:t>Award source: https://www.cssdesignawards.com/sites/maria-vareva/48730/</a:t>
            </a:r>
          </a:p>
          <a:p xmlns:a="http://schemas.openxmlformats.org/drawingml/2006/main">
            <a:r>
              <a:t>Live About: https://mariavareva.com/about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Aya El Ouahdani</a:t>
            </a:r>
          </a:p>
          <a:p xmlns:a="http://schemas.openxmlformats.org/drawingml/2006/main">
            <a:r>
              <a:t>Award source: https://www.cssdesignawards.com/sites/interactive-web-portfolio/48731/</a:t>
            </a:r>
          </a:p>
          <a:p xmlns:a="http://schemas.openxmlformats.org/drawingml/2006/main">
            <a:r>
              <a:t>Live About: https://www.ouahdina.com/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 Khoruzhenko</a:t>
            </a:r>
          </a:p>
          <a:p xmlns:a="http://schemas.openxmlformats.org/drawingml/2006/main">
            <a:r>
              <a:t>Award source: https://www.cssdesignawards.com/sites/stan-design-portfolio/48716/</a:t>
            </a:r>
          </a:p>
          <a:p xmlns:a="http://schemas.openxmlformats.org/drawingml/2006/main">
            <a:r>
              <a:t>Live About: https://stan-khoruzhenko.com/bio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AKIS.STUDIO</a:t>
            </a:r>
          </a:p>
          <a:p xmlns:a="http://schemas.openxmlformats.org/drawingml/2006/main">
            <a:r>
              <a:t>Award source: https://www.cssdesignawards.com/sites/akis-studio/48714/</a:t>
            </a:r>
          </a:p>
          <a:p xmlns:a="http://schemas.openxmlformats.org/drawingml/2006/main">
            <a:r>
              <a:t>Live About: https://akis.studio/en/about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Jess Hill</a:t>
            </a:r>
          </a:p>
          <a:p xmlns:a="http://schemas.openxmlformats.org/drawingml/2006/main">
            <a:r>
              <a:t>Award source: https://www.cssdesignawards.com/sites/jess-hill/48500/</a:t>
            </a:r>
          </a:p>
          <a:p xmlns:a="http://schemas.openxmlformats.org/drawingml/2006/main">
            <a:r>
              <a:t>Live About: https://www.jesshill.com.au/about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Bogdan Kolomiyets</a:t>
            </a:r>
          </a:p>
          <a:p xmlns:a="http://schemas.openxmlformats.org/drawingml/2006/main">
            <a:r>
              <a:t>Award source: https://www.cssdesignawards.com/website-gallery?industry=web+design%2Fdev</a:t>
            </a:r>
          </a:p>
          <a:p xmlns:a="http://schemas.openxmlformats.org/drawingml/2006/main">
            <a:r>
              <a:t>Live About: https://bogdankolomiyets.com/about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Giacomo Agnello Modica</a:t>
            </a:r>
          </a:p>
          <a:p xmlns:a="http://schemas.openxmlformats.org/drawingml/2006/main">
            <a:r>
              <a:t>Award source: https://www.cssdesignawards.com/website-gallery?industry=art</a:t>
            </a:r>
          </a:p>
          <a:p xmlns:a="http://schemas.openxmlformats.org/drawingml/2006/main">
            <a:r>
              <a:t>Live About: https://giacomoagnellomodica.com/info/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Recommended next phase: interview-led content definition, storyboarding, then a lightweight interactive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dfe196a646443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957dc482d544e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6194640b594b1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35cc216563452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cfa9d68fb44b5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e90b52139d412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9575349e9449e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ee0c029f31416f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a7f676e1bd45e2" /><Relationship Type="http://schemas.openxmlformats.org/officeDocument/2006/relationships/slideLayout" Target="/ppt/slideLayouts/slideLayout1.xml" Id="R579b10b3840e4713" /><Relationship Type="http://schemas.openxmlformats.org/officeDocument/2006/relationships/slideLayout" Target="/ppt/slideLayouts/slideLayout2.xml" Id="R0875e85f84a94819" /><Relationship Type="http://schemas.openxmlformats.org/officeDocument/2006/relationships/slideLayout" Target="/ppt/slideLayouts/slideLayout3.xml" Id="R19da10c3f5d64647" /><Relationship Type="http://schemas.openxmlformats.org/officeDocument/2006/relationships/slideLayout" Target="/ppt/slideLayouts/slideLayout4.xml" Id="R5cf87800c7e14698" /><Relationship Type="http://schemas.openxmlformats.org/officeDocument/2006/relationships/slideLayout" Target="/ppt/slideLayouts/slideLayout5.xml" Id="R902e2fc8e26245d4" /><Relationship Type="http://schemas.openxmlformats.org/officeDocument/2006/relationships/slideLayout" Target="/ppt/slideLayouts/slideLayout6.xml" Id="R7c5d42aedb5c47ab" /><Relationship Type="http://schemas.openxmlformats.org/officeDocument/2006/relationships/slideLayout" Target="/ppt/slideLayouts/slideLayout7.xml" Id="R3b3e512d2e6643be" /><Relationship Type="http://schemas.openxmlformats.org/officeDocument/2006/relationships/slideLayout" Target="/ppt/slideLayouts/slideLayout8.xml" Id="R02cf86224aa64de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9b10b3840e4713"/>
    <p:sldLayoutId xmlns:r="http://schemas.openxmlformats.org/officeDocument/2006/relationships" id="2147483650" r:id="R0875e85f84a94819"/>
    <p:sldLayoutId xmlns:r="http://schemas.openxmlformats.org/officeDocument/2006/relationships" id="2147483651" r:id="R19da10c3f5d64647"/>
    <p:sldLayoutId xmlns:r="http://schemas.openxmlformats.org/officeDocument/2006/relationships" id="2147483652" r:id="R5cf87800c7e14698"/>
    <p:sldLayoutId xmlns:r="http://schemas.openxmlformats.org/officeDocument/2006/relationships" id="2147483653" r:id="R902e2fc8e26245d4"/>
    <p:sldLayoutId xmlns:r="http://schemas.openxmlformats.org/officeDocument/2006/relationships" id="2147483654" r:id="R7c5d42aedb5c47ab"/>
    <p:sldLayoutId xmlns:r="http://schemas.openxmlformats.org/officeDocument/2006/relationships" id="2147483655" r:id="R3b3e512d2e6643be"/>
    <p:sldLayoutId xmlns:r="http://schemas.openxmlformats.org/officeDocument/2006/relationships" id="2147483656" r:id="R02cf86224aa64de2"/>
  </p:sldLayoutIdLst>
  <p:hf hdr="0" dt="0"/>
  <p:txStyles>
    <p:titleStyle>
      <a:lvl1pPr xmlns:a="http://schemas.openxmlformats.org/drawingml/2006/main" algn="l">
        <a:lnSpc>
          <a:spcPct val="90000"/>
        </a:lnSpc>
        <a:buNone/>
        <a:defRPr sz="29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d4e08b629b4c92" /><Relationship Type="http://schemas.openxmlformats.org/officeDocument/2006/relationships/image" Target="/ppt/media/image.png" Id="Rafeadb8535874dd6" /><Relationship Type="http://schemas.openxmlformats.org/officeDocument/2006/relationships/notesSlide" Target="/ppt/notesSlides/notesSlide1.xml" Id="R871896469ce04d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0cfab7c2dc4a29" /><Relationship Type="http://schemas.openxmlformats.org/officeDocument/2006/relationships/notesSlide" Target="/ppt/notesSlides/notesSlide2.xml" Id="R0bf7ffbc816e48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4786874dc043d9" /><Relationship Type="http://schemas.openxmlformats.org/officeDocument/2006/relationships/notesSlide" Target="/ppt/notesSlides/notesSlide3.xml" Id="R87b06d27890343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13506944b84a56" /><Relationship Type="http://schemas.openxmlformats.org/officeDocument/2006/relationships/notesSlide" Target="/ppt/notesSlides/notesSlide4.xml" Id="R3b2e2b26933b46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35a1ac4cdc4ade" /><Relationship Type="http://schemas.openxmlformats.org/officeDocument/2006/relationships/image" Target="/ppt/media/image2.png" Id="R803bd4e4646646b0" /><Relationship Type="http://schemas.openxmlformats.org/officeDocument/2006/relationships/notesSlide" Target="/ppt/notesSlides/notesSlide5.xml" Id="R318c5cd4e6994a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63cf67090c49aa" /><Relationship Type="http://schemas.openxmlformats.org/officeDocument/2006/relationships/notesSlide" Target="/ppt/notesSlides/notesSlide6.xml" Id="R7472db6a87244c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21f0473d7043ef" /><Relationship Type="http://schemas.openxmlformats.org/officeDocument/2006/relationships/notesSlide" Target="/ppt/notesSlides/notesSlide7.xml" Id="Rc1e4006448c14bc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eb5f8d09e94d17" /><Relationship Type="http://schemas.openxmlformats.org/officeDocument/2006/relationships/notesSlide" Target="/ppt/notesSlides/notesSlide8.xml" Id="R17f515c7686e4f4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d51777aebb42e5" /><Relationship Type="http://schemas.openxmlformats.org/officeDocument/2006/relationships/notesSlide" Target="/ppt/notesSlides/notesSlide9.xml" Id="R4e2ea8d38ce24a4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59c860e9bf4e01" /><Relationship Type="http://schemas.openxmlformats.org/officeDocument/2006/relationships/notesSlide" Target="/ppt/notesSlides/notesSlide10.xml" Id="R5a66acc99dab4be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f04ce3620c48a4" /><Relationship Type="http://schemas.openxmlformats.org/officeDocument/2006/relationships/notesSlide" Target="/ppt/notesSlides/notesSlide11.xml" Id="Ra3c5d18fae28417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8567c8705d4052" /><Relationship Type="http://schemas.openxmlformats.org/officeDocument/2006/relationships/notesSlide" Target="/ppt/notesSlides/notesSlide12.xml" Id="Rb6b439825817453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a1018c90d14c17" /><Relationship Type="http://schemas.openxmlformats.org/officeDocument/2006/relationships/image" Target="/ppt/media/image3.png" Id="R629c786fad1d43bb" /><Relationship Type="http://schemas.openxmlformats.org/officeDocument/2006/relationships/notesSlide" Target="/ppt/notesSlides/notesSlide13.xml" Id="Ra2d6ada73dd840c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014533d2a3447d" /><Relationship Type="http://schemas.openxmlformats.org/officeDocument/2006/relationships/image" Target="/ppt/media/image4.png" Id="R37904ce5607c4164" /><Relationship Type="http://schemas.openxmlformats.org/officeDocument/2006/relationships/notesSlide" Target="/ppt/notesSlides/notesSlide14.xml" Id="R27d5e80da85a4ec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7d6a92e54240f8" /><Relationship Type="http://schemas.openxmlformats.org/officeDocument/2006/relationships/image" Target="/ppt/media/image5.png" Id="R3ff3b49d84e44e50" /><Relationship Type="http://schemas.openxmlformats.org/officeDocument/2006/relationships/notesSlide" Target="/ppt/notesSlides/notesSlide15.xml" Id="Rfdf3e92f01fb4df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bc903478124c63" /><Relationship Type="http://schemas.openxmlformats.org/officeDocument/2006/relationships/image" Target="/ppt/media/image6.png" Id="Re9a8001a25424896" /><Relationship Type="http://schemas.openxmlformats.org/officeDocument/2006/relationships/notesSlide" Target="/ppt/notesSlides/notesSlide16.xml" Id="R50dd6a722ab9403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8bb4a1f84345f2" /><Relationship Type="http://schemas.openxmlformats.org/officeDocument/2006/relationships/image" Target="/ppt/media/image7.png" Id="R560ab4652b4d46c1" /><Relationship Type="http://schemas.openxmlformats.org/officeDocument/2006/relationships/notesSlide" Target="/ppt/notesSlides/notesSlide17.xml" Id="R4791ec0116b1476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172f990d1b4c66" /><Relationship Type="http://schemas.openxmlformats.org/officeDocument/2006/relationships/image" Target="/ppt/media/image8.png" Id="Rfeed0643cc97485c" /><Relationship Type="http://schemas.openxmlformats.org/officeDocument/2006/relationships/notesSlide" Target="/ppt/notesSlides/notesSlide18.xml" Id="Rb8653d391a64402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c2d75bb30f4a07" /><Relationship Type="http://schemas.openxmlformats.org/officeDocument/2006/relationships/image" Target="/ppt/media/image9.png" Id="Rbd80be9bef2a41c4" /><Relationship Type="http://schemas.openxmlformats.org/officeDocument/2006/relationships/notesSlide" Target="/ppt/notesSlides/notesSlide19.xml" Id="R07de7a5c04534f0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7527978bd54fd5" /><Relationship Type="http://schemas.openxmlformats.org/officeDocument/2006/relationships/image" Target="/ppt/media/image10.png" Id="Ra86543988ba34b45" /><Relationship Type="http://schemas.openxmlformats.org/officeDocument/2006/relationships/notesSlide" Target="/ppt/notesSlides/notesSlide20.xml" Id="Rdfeca2e436e142e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17dd9f0bf54d9a" /><Relationship Type="http://schemas.openxmlformats.org/officeDocument/2006/relationships/image" Target="/ppt/media/image11.png" Id="R48f980ae650a4bc8" /><Relationship Type="http://schemas.openxmlformats.org/officeDocument/2006/relationships/notesSlide" Target="/ppt/notesSlides/notesSlide21.xml" Id="Rbfff3257961a49c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1efcc3f8834e5e" /><Relationship Type="http://schemas.openxmlformats.org/officeDocument/2006/relationships/notesSlide" Target="/ppt/notesSlides/notesSlide22.xml" Id="R59a4d67e66b1482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91d04b379b41b1" /><Relationship Type="http://schemas.openxmlformats.org/officeDocument/2006/relationships/notesSlide" Target="/ppt/notesSlides/notesSlide23.xml" Id="Ref038bcd793b49e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2f7bb954814c15" /><Relationship Type="http://schemas.openxmlformats.org/officeDocument/2006/relationships/notesSlide" Target="/ppt/notesSlides/notesSlide24.xml" Id="Ra22d63b6f7884be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c4f47bff464d2a" /><Relationship Type="http://schemas.openxmlformats.org/officeDocument/2006/relationships/notesSlide" Target="/ppt/notesSlides/notesSlide25.xml" Id="Rbb2d75f28f14481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1992f5f5a64f4e" /><Relationship Type="http://schemas.openxmlformats.org/officeDocument/2006/relationships/notesSlide" Target="/ppt/notesSlides/notesSlide26.xml" Id="R4fc87c044cac419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14a82dc30f4da5" /><Relationship Type="http://schemas.openxmlformats.org/officeDocument/2006/relationships/notesSlide" Target="/ppt/notesSlides/notesSlide27.xml" Id="R38885de2f19f4a7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51b79f3cd5471f" /><Relationship Type="http://schemas.openxmlformats.org/officeDocument/2006/relationships/image" Target="/ppt/media/image12.png" Id="R1e0fff02699148c8" /><Relationship Type="http://schemas.openxmlformats.org/officeDocument/2006/relationships/notesSlide" Target="/ppt/notesSlides/notesSlide28.xml" Id="Rb9d3b272d43c4f8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d68bb3b9154364" /><Relationship Type="http://schemas.openxmlformats.org/officeDocument/2006/relationships/notesSlide" Target="/ppt/notesSlides/notesSlide29.xml" Id="Re20ca0c0698b4c8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9690dc661443d4" /><Relationship Type="http://schemas.openxmlformats.org/officeDocument/2006/relationships/image" Target="/ppt/media/image13.png" Id="R5b1029c0cf744663" /><Relationship Type="http://schemas.openxmlformats.org/officeDocument/2006/relationships/notesSlide" Target="/ppt/notesSlides/notesSlide30.xml" Id="R2ecb3790a09445e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5270f817f842f6" /><Relationship Type="http://schemas.openxmlformats.org/officeDocument/2006/relationships/image" Target="/ppt/media/image14.png" Id="R106ab3acfc234fc7" /><Relationship Type="http://schemas.openxmlformats.org/officeDocument/2006/relationships/notesSlide" Target="/ppt/notesSlides/notesSlide31.xml" Id="R1383739d91dc435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8afc8dccac4c53" /><Relationship Type="http://schemas.openxmlformats.org/officeDocument/2006/relationships/image" Target="/ppt/media/image15.png" Id="R2fb49c2bc3b94de3" /><Relationship Type="http://schemas.openxmlformats.org/officeDocument/2006/relationships/notesSlide" Target="/ppt/notesSlides/notesSlide32.xml" Id="R6ed5f2a56cec4ca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488ff7b41f4352" /><Relationship Type="http://schemas.openxmlformats.org/officeDocument/2006/relationships/notesSlide" Target="/ppt/notesSlides/notesSlide33.xml" Id="Rd7ab9cf97a84430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1a6dd740a940ba" /><Relationship Type="http://schemas.openxmlformats.org/officeDocument/2006/relationships/notesSlide" Target="/ppt/notesSlides/notesSlide34.xml" Id="R677b28ab828f47c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059d44ff2c434e" /><Relationship Type="http://schemas.openxmlformats.org/officeDocument/2006/relationships/notesSlide" Target="/ppt/notesSlides/notesSlide35.xml" Id="Raae2227a69964e6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ebca0795e842dc" /><Relationship Type="http://schemas.openxmlformats.org/officeDocument/2006/relationships/notesSlide" Target="/ppt/notesSlides/notesSlide36.xml" Id="R02f0cf39d2b94a18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c5b228fe774050" /><Relationship Type="http://schemas.openxmlformats.org/officeDocument/2006/relationships/notesSlide" Target="/ppt/notesSlides/notesSlide37.xml" Id="R7b4ffd17c94a4e93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99d63d05e947b6" /><Relationship Type="http://schemas.openxmlformats.org/officeDocument/2006/relationships/notesSlide" Target="/ppt/notesSlides/notesSlide38.xml" Id="Refd5b5c5c55f42ca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cae7c129854592" /><Relationship Type="http://schemas.openxmlformats.org/officeDocument/2006/relationships/notesSlide" Target="/ppt/notesSlides/notesSlide39.xml" Id="R21833a578be6403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bc7ca580404255" /><Relationship Type="http://schemas.openxmlformats.org/officeDocument/2006/relationships/notesSlide" Target="/ppt/notesSlides/notesSlide40.xml" Id="R9730a2a7294146bd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b92e96e00541a6" /><Relationship Type="http://schemas.openxmlformats.org/officeDocument/2006/relationships/notesSlide" Target="/ppt/notesSlides/notesSlide41.xml" Id="R6e708832e9ae4c3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15733" y="1907316"/>
            <a:ext cx="7174888" cy="249149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rPr sz="6200"/>
              <a:t>What an award-winning</a:t>
            </a:r>
            <a:br/>
            <a:r>
              <a:rPr sz="6200"/>
              <a:t>About page should do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283B85AD-626B-46B7-0C36-31F5BABDE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15733" y="5264722"/>
            <a:ext cx="6910483" cy="1080246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r>
              <a:rPr sz="1800"/>
              <a:t>40 sites · Awwwards, Webbys and CSSDA</a:t>
            </a:r>
          </a:p>
          <a:p xmlns:a="http://schemas.openxmlformats.org/drawingml/2006/main">
            <a:r>
              <a:rPr sz="1800"/>
              <a:t>Research, motion evidence and three concept frames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734" y="392241"/>
            <a:ext cx="57023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/>
              <a:t>ABOUT ME · CREATIVE DIRECTION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eadb8535874dd6"/>
          <a:srcRect xmlns:a="http://schemas.openxmlformats.org/drawingml/2006/main" l="28265" t="0" r="282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99094" y="0"/>
            <a:ext cx="4292906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9A8DA10-BC74-F432-B483-CF813D4319A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3712696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7200"/>
              <a:t>Build a living editorial profile,</a:t>
            </a:r>
            <a:br/>
            <a:r>
              <a:rPr sz="7200"/>
              <a:t>not a scrolling CV.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47DF5305-453D-AB88-8DE6-9846FEB1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1"/>
            <a:ext cx="6157826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/>
              <a:t>THESIS</a:t>
            </a:r>
          </a:p>
        </p:txBody>
      </p:sp>
      <p:sp>
        <p:nvSpPr>
          <p:cNvPr id="8" name="Subtitle 4">
            <a:extLst xmlns:a="http://schemas.openxmlformats.org/drawingml/2006/main">
              <a:ext uri="{FF2B5EF4-FFF2-40B4-BE49-F238E27FC236}">
                <a16:creationId xmlns:a16="http://schemas.microsoft.com/office/drawing/2014/main" id="{4AE41470-6E36-D08D-AC35-CBDFACEF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1"/>
            <a:ext cx="39116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/>
              <a:t>12 JULY 2026</a:t>
            </a:r>
          </a:p>
        </p:txBody>
      </p:sp>
    </p:spTree>
    <p:extLst>
      <p:ext uri="{BB962C8B-B14F-4D97-AF65-F5344CB8AC3E}">
        <p14:creationId xmlns:p14="http://schemas.microsoft.com/office/powerpoint/2010/main" val="350773716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595FF69-AA88-8653-2D13-3E0289A1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3AFD29D-9AD2-841D-0915-B4BDDC09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A10D6BE-4B8A-E31D-9AC6-AEB4FCD5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908090F4-C2CE-1329-8725-AC98A6AF8F6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64EBD68-6C7C-E1E5-F754-A2CABD28D4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40 award-winning About pages point to one clear direction</a:t>
            </a: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8352425-466B-B7C0-4556-B12F3F4F6DB3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02413" y="4900613"/>
            <a:ext cx="2949575" cy="819150"/>
          </a:xfrm>
        </p:spPr>
        <p:txBody>
          <a:bodyPr xmlns:a="http://schemas.openxmlformats.org/drawingml/2006/main">
            <a:normAutofit fontScale="47656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sites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researched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D1B4876-C319-B371-36B9-745CADB662E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541859" y="4900613"/>
            <a:ext cx="2949575" cy="819150"/>
          </a:xfrm>
        </p:spPr>
        <p:txBody>
          <a:bodyPr xmlns:a="http://schemas.openxmlformats.org/drawingml/2006/main">
            <a:normAutofit fontScale="47656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award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bodies</a:t>
            </a:r>
          </a:p>
        </p:txBody>
      </p:sp>
      <p:sp>
        <p:nvSpPr>
          <p:cNvPr id="12" name="Content Placeholder 11">
            <a:extLst xmlns:a="http://schemas.openxmlformats.org/drawingml/2006/main">
              <a:ext uri="{FF2B5EF4-FFF2-40B4-BE49-F238E27FC236}">
                <a16:creationId xmlns:a16="http://schemas.microsoft.com/office/drawing/2014/main" id="{1BDFAF15-9B61-BA2E-0381-0DE8F578A81F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621211" y="4900613"/>
            <a:ext cx="2949575" cy="819150"/>
          </a:xfrm>
        </p:spPr>
        <p:txBody>
          <a:bodyPr xmlns:a="http://schemas.openxmlformats.org/drawingml/2006/main">
            <a:normAutofit fontScale="47656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pages at or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below 220 words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DBA9068-3E52-4988-B608-4CED930E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13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40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53D01BD-BEDA-E1D7-8112-CCD78E0B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3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AE7C386-15B3-0C22-BD29-DB00B9F7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36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E38982-B0CA-BEBE-C656-B7F62835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38300"/>
            <a:ext cx="11404599" cy="15994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latin typeface="Helvetica Neue Medium"/>
                <a:ea typeface="Helvetica Neue Medium"/>
                <a:cs typeface="Helvetica Neue Medium"/>
              </a:rPr>
              <a:t>Sample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Award-verified personal portfolios and small creative studios with substantive About, Profile or Studio pages.</a:t>
            </a:r>
          </a:p>
        </p:txBody>
      </p:sp>
    </p:spTree>
    <p:extLst>
      <p:ext uri="{BB962C8B-B14F-4D97-AF65-F5344CB8AC3E}">
        <p14:creationId xmlns:p14="http://schemas.microsoft.com/office/powerpoint/2010/main" val="236961682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B3BD1300-E71C-732F-134B-B7EE0492A9B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FC59BB80-DF6A-0532-F91A-4A78B8E582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the research had to answer</a:t>
            </a:r>
          </a:p>
        </p:txBody>
      </p:sp>
      <p:graphicFrame>
        <p:nvGraphicFramePr>
          <p:cNvPr id="9" name="Table 3"/>
          <p:cNvGraphicFramePr/>
          <p:nvPr/>
        </p:nvGraphicFramePr>
        <p:xfrm>
          <a:off xmlns:a="http://schemas.openxmlformats.org/drawingml/2006/main" x="393700" y="2080009"/>
          <a:ext xmlns:a="http://schemas.openxmlformats.org/drawingml/2006/main" cx="11404600" cy="3914388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8509"/>
                <a:gridCol w="10526091"/>
              </a:tblGrid>
              <a:tr h="65239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01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does an About page need to say?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5239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02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How long can it be?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5239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03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How does confidence stay human?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5239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04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Which interaction adds meaning?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5239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05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How can side work feel purposeful?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5239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06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should beck.fyi do differently?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587740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The shell is ready. The story is not.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Current state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About Me is an intentional placeholder inside a finished, stable shell. The opportunity is to turn scrolling into a concise professional story without changing the physical frame.</a:t>
            </a:r>
          </a:p>
        </p:txBody>
      </p:sp>
      <p:pic>
        <p:nvPicPr>
          <p:cNvPr id="5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3bd4e4646646b0"/>
          <a:srcRect xmlns:a="http://schemas.openxmlformats.org/drawingml/2006/main" l="15664" t="0" r="156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40" y="396409"/>
            <a:ext cx="5539740" cy="560207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FD2F4B0-1B4E-4F78-8608-85E7ADD907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488"/>
            <a:ext cx="11404600" cy="1283032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The best About pages position, prove and humanize.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Prove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Use clients, dates, outcomes and artifacts after the claim.</a:t>
            </a:r>
          </a:p>
        </p:txBody>
      </p:sp>
      <p:sp>
        <p:nvSpPr>
          <p:cNvPr id="1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09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Humanize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Add one belief, fascination or detail that explains the work.</a:t>
            </a:r>
          </a:p>
        </p:txBody>
      </p:sp>
      <p:sp>
        <p:nvSpPr>
          <p:cNvPr id="1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70" y="3694102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EC1020B-1BFB-C461-94A3-B04496D4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06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BF9CE9B1-F78E-2E93-3127-A76A196D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7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Position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What do I do now, for whom, and why does it matter?</a:t>
            </a:r>
          </a:p>
        </p:txBody>
      </p:sp>
      <p:sp>
        <p:nvSpPr>
          <p:cNvPr id="8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FAB1693-7B48-B899-1715-D7B6F34D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998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4ED89C7-2856-344F-42B0-44B6A09E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1" y="145052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latin typeface="Helvetica Neue Medium"/>
                <a:ea typeface="Helvetica Neue Medium"/>
                <a:cs typeface="Helvetica Neue Medium"/>
              </a:rPr>
              <a:t>The repeated pattern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The page earns attention by stating a useful position, earns trust through concrete evidence, and earns memory through one human point of view.</a:t>
            </a: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595FF69-AA88-8653-2D13-3E0289A1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3AFD29D-9AD2-841D-0915-B4BDDC09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A10D6BE-4B8A-E31D-9AC6-AEB4FCD5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908090F4-C2CE-1329-8725-AC98A6AF8F6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64EBD68-6C7C-E1E5-F754-A2CABD28D4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 award-winning About pages are longer than one minute</a:t>
            </a: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8352425-466B-B7C0-4556-B12F3F4F6DB3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02413" y="4900613"/>
            <a:ext cx="2949575" cy="819150"/>
          </a:xfrm>
        </p:spPr>
        <p:txBody>
          <a:bodyPr xmlns:a="http://schemas.openxmlformats.org/drawingml/2006/main">
            <a:normAutofit fontScale="47656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median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word count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D1B4876-C319-B371-36B9-745CADB662E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541859" y="4900613"/>
            <a:ext cx="2949575" cy="819150"/>
          </a:xfrm>
        </p:spPr>
        <p:txBody>
          <a:bodyPr xmlns:a="http://schemas.openxmlformats.org/drawingml/2006/main">
            <a:normAutofit fontScale="47656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pages at or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below 300 words</a:t>
            </a:r>
          </a:p>
        </p:txBody>
      </p:sp>
      <p:sp>
        <p:nvSpPr>
          <p:cNvPr id="12" name="Content Placeholder 11">
            <a:extLst xmlns:a="http://schemas.openxmlformats.org/drawingml/2006/main">
              <a:ext uri="{FF2B5EF4-FFF2-40B4-BE49-F238E27FC236}">
                <a16:creationId xmlns:a16="http://schemas.microsoft.com/office/drawing/2014/main" id="{1BDFAF15-9B61-BA2E-0381-0DE8F578A81F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621211" y="4900613"/>
            <a:ext cx="2949575" cy="819150"/>
          </a:xfrm>
        </p:spPr>
        <p:txBody>
          <a:bodyPr xmlns:a="http://schemas.openxmlformats.org/drawingml/2006/main">
            <a:normAutofit fontScale="47656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pages at or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below 220 words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DBA9068-3E52-4988-B608-4CED930E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13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354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53D01BD-BEDA-E1D7-8112-CCD78E0B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3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AE7C386-15B3-0C22-BD29-DB00B9F7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36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E38982-B0CA-BEBE-C656-B7F62835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38300"/>
            <a:ext cx="11404599" cy="15994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latin typeface="Helvetica Neue Medium"/>
                <a:ea typeface="Helvetica Neue Medium"/>
                <a:cs typeface="Helvetica Neue Medium"/>
              </a:rPr>
              <a:t>Length finding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The median page is 354 words. The strongest one-minute references cluster around 150–220 words; clarity correlates with editing, not volume.</a:t>
            </a:r>
          </a:p>
        </p:txBody>
      </p:sp>
    </p:spTree>
    <p:extLst>
      <p:ext uri="{BB962C8B-B14F-4D97-AF65-F5344CB8AC3E}">
        <p14:creationId xmlns:p14="http://schemas.microsoft.com/office/powerpoint/2010/main" val="236961682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52A30403-4B2D-2E15-7A2F-51A6DF6BE5D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488"/>
            <a:ext cx="11404600" cy="644297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Confidence works when evidence follows the claim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3339053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3587937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Confident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“I led…” — then name the scope, client and consequence.</a:t>
            </a:r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828582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latin typeface="Helvetica Neue"/>
                <a:ea typeface="Helvetica Neue"/>
                <a:cs typeface="Helvetica Neue"/>
              </a:rPr>
              <a:t>Claim first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latin typeface="Helvetica Neue"/>
                <a:ea typeface="Helvetica Neue"/>
                <a:cs typeface="Helvetica Neue"/>
              </a:rPr>
              <a:t>Proof immediately after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latin typeface="Helvetica Neue"/>
                <a:ea typeface="Helvetica Neue"/>
                <a:cs typeface="Helvetica Neue"/>
              </a:rPr>
              <a:t>One clear point of view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5" y="3339053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3587937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Self-important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“I am world-class…” — with no observable evidence.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4828582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latin typeface="Helvetica Neue"/>
                <a:ea typeface="Helvetica Neue"/>
                <a:cs typeface="Helvetica Neue"/>
              </a:rPr>
              <a:t>Adjectives first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latin typeface="Helvetica Neue"/>
                <a:ea typeface="Helvetica Neue"/>
                <a:cs typeface="Helvetica Neue"/>
              </a:rPr>
              <a:t>Awards as the climax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latin typeface="Helvetica Neue"/>
                <a:ea typeface="Helvetica Neue"/>
                <a:cs typeface="Helvetica Neue"/>
              </a:rPr>
              <a:t>Generic values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15751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latin typeface="Helvetica Neue Medium"/>
                <a:ea typeface="Helvetica Neue Medium"/>
                <a:cs typeface="Helvetica Neue Medium"/>
              </a:rPr>
              <a:t>Research pattern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Bold statements land when the next beat names a decision, scope, collaborator, client or observable result.</a:t>
            </a:r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AA5CCC43-8737-3A41-CAE5-94B8C1D29B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Four useful narrative models appear again and again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Kinetic statement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Oversized type turns one belief into an experience.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5017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Calm ledger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Concise role, proof and contact. Strong credibility; little emotion.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5017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Studio manifesto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Strong rhythm, usually too broad and long for one person.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Personal cabinet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Artifacts reveal taste, curiosity and side work.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latin typeface="Helvetica Neue Medium"/>
                <a:ea typeface="Helvetica Neue Medium"/>
                <a:cs typeface="Helvetica Neue Medium"/>
              </a:rPr>
              <a:t>No single model wins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The right answer for Alexander combines the edit of a calm ledger, the drama of kinetic type and the humanity of a personal cabinet.</a:t>
            </a:r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Scrolling should reveal the story; interaction should reward curiosity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Native scroll is the only required navigation.</a:t>
            </a: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Text is readable before motion ends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90316"/>
            <a:ext cx="5537200" cy="28846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The best motion pages remain understandable as plain text. Pointer, tap, audio or drag expand what is already visible.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Tap reveals optional proof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Pointer perturbs locally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Reduced motion preserves every beat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No hover-only essential detail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rhythm every one or two screens</a:t>
            </a:r>
          </a:p>
        </p:txBody>
      </p:sp>
      <p:cxnSp>
        <p:nvCxnSpPr>
          <p:cNvPr id="26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3373753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00–20s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20–40s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40–60s</a:t>
            </a:r>
          </a:p>
        </p:txBody>
      </p:sp>
      <p:sp>
        <p:nvSpPr>
          <p:cNvPr id="8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0EE3B6B-F07C-271E-2F97-41D7686F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8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Proof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Clients, specialties and one concrete example.</a:t>
            </a:r>
          </a:p>
        </p:txBody>
      </p:sp>
      <p:sp>
        <p:nvSpPr>
          <p:cNvPr id="15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3EA0E10-C778-6971-AFB5-9B9B52B0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73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Statement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One decisive line, then a short trajectory.</a:t>
            </a:r>
          </a:p>
        </p:txBody>
      </p:sp>
      <p:sp>
        <p:nvSpPr>
          <p:cNvPr id="19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5A9F39A9-7A23-0F85-F761-1AB9FA6B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917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Personality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Side work, aspiration and a light ending.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9A8DA10-BC74-F432-B483-CF813D4319A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3712696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7200"/>
              <a:t>The examples that most directly</a:t>
            </a:r>
            <a:br/>
            <a:r>
              <a:rPr sz="7200"/>
              <a:t>inform beck.fyi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47DF5305-453D-AB88-8DE6-9846FEB1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1"/>
            <a:ext cx="6157826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/>
              <a:t>CASE STUDIES</a:t>
            </a:r>
          </a:p>
        </p:txBody>
      </p:sp>
      <p:sp>
        <p:nvSpPr>
          <p:cNvPr id="8" name="Subtitle 4">
            <a:extLst xmlns:a="http://schemas.openxmlformats.org/drawingml/2006/main">
              <a:ext uri="{FF2B5EF4-FFF2-40B4-BE49-F238E27FC236}">
                <a16:creationId xmlns:a16="http://schemas.microsoft.com/office/drawing/2014/main" id="{4AE41470-6E36-D08D-AC35-CBDFACEF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1"/>
            <a:ext cx="39116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/>
              <a:t>6 OF 40</a:t>
            </a:r>
          </a:p>
        </p:txBody>
      </p:sp>
    </p:spTree>
    <p:extLst>
      <p:ext uri="{BB962C8B-B14F-4D97-AF65-F5344CB8AC3E}">
        <p14:creationId xmlns:p14="http://schemas.microsoft.com/office/powerpoint/2010/main" val="350773716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Maria Vareva · structured biography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151 words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Present role → five selective turns → four beliefs → six values. Numbers create structure; links provide proof.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Borrow: selective trajectory and decision-led beliefs.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Avoid: asking text to carry every visual beat.</a:t>
            </a:r>
          </a:p>
        </p:txBody>
      </p:sp>
      <p:pic>
        <p:nvPicPr>
          <p:cNvPr id="5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9c786fad1d43bb"/>
          <a:srcRect xmlns:a="http://schemas.openxmlformats.org/drawingml/2006/main" l="556" t="0" r="5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40" y="396409"/>
            <a:ext cx="5539740" cy="560207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327921A4-25C4-3DB4-06B1-32693CEE2241}" type="slidenum">
              <a:t>14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Antoine Wodniack · kinetic restraint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220 words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A compressed career sentence sits inside a highly distinctive typographic and spatial system.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Borrow: one trajectory sentence and one governing geometry.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Avoid: using awards as the only proof.</a:t>
            </a:r>
          </a:p>
        </p:txBody>
      </p:sp>
      <p:pic>
        <p:nvPicPr>
          <p:cNvPr id="5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904ce5607c4164"/>
          <a:srcRect xmlns:a="http://schemas.openxmlformats.org/drawingml/2006/main" l="556" t="0" r="5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40" y="396409"/>
            <a:ext cx="5539740" cy="560207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A83FA91-883A-0168-8075-96CEB9DCA3C2}" type="slidenum">
              <a:t>15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Camila Rosa · identity, then proof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92 words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Two clear statements define the practice. Clients and achievement counts supply credibility without slowing the first read.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Borrow: expandable proof after a memorable visual.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Avoid: a client list that becomes wallpaper.</a:t>
            </a:r>
          </a:p>
        </p:txBody>
      </p:sp>
      <p:pic>
        <p:nvPicPr>
          <p:cNvPr id="5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f3b49d84e44e50"/>
          <a:srcRect xmlns:a="http://schemas.openxmlformats.org/drawingml/2006/main" l="556" t="0" r="5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40" y="396409"/>
            <a:ext cx="5539740" cy="560207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DC9C7607-4BA3-B4DC-A00F-2E67A9FCFF7E}" type="slidenum">
              <a:t>16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Giacomo Modica · personality with logic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226 words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Clients, influences, hobbies and side products form one causal story about the visual practice.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Borrow: purposeful taste labels and side-work reveals.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Avoid: copying the collage style rather than the logic.</a:t>
            </a:r>
          </a:p>
        </p:txBody>
      </p:sp>
      <p:pic>
        <p:nvPicPr>
          <p:cNvPr id="5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a8001a25424896"/>
          <a:srcRect xmlns:a="http://schemas.openxmlformats.org/drawingml/2006/main" l="556" t="0" r="5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40" y="396409"/>
            <a:ext cx="5539740" cy="560207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90F7333B-44AC-F7E9-D49D-FE92F45E0477}" type="slidenum">
              <a:t>17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Thibaud Fellay · one belief, one circle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205 words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Mountains, light and collaboration frame the practice; imagery and credits carry the proof.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Borrow: one authored belief plus restrained visual chapters.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Avoid: letting atmosphere replace concrete contribution.</a:t>
            </a:r>
          </a:p>
        </p:txBody>
      </p:sp>
      <p:pic>
        <p:nvPicPr>
          <p:cNvPr id="5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0ab4652b4d46c1"/>
          <a:srcRect xmlns:a="http://schemas.openxmlformats.org/drawingml/2006/main" l="556" t="0" r="5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40" y="396409"/>
            <a:ext cx="5539740" cy="560207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B1C6C81E-38B9-7560-621D-5A151A79DF9B}" type="slidenum">
              <a:t>18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Veronica Zubakova · quiet confidence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Playful voice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Self-aware questions, community projects and varied work make the page personal without becoming casual.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Borrow: personality through specific activity.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Avoid: scattering too many mini-stories.</a:t>
            </a:r>
          </a:p>
        </p:txBody>
      </p:sp>
      <p:pic>
        <p:nvPicPr>
          <p:cNvPr id="5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ed0643cc97485c"/>
          <a:srcRect xmlns:a="http://schemas.openxmlformats.org/drawingml/2006/main" l="556" t="0" r="5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40" y="396409"/>
            <a:ext cx="5539740" cy="560207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CCF91274-D221-1BB4-3BF9-836E3AD31EBE}" type="slidenum">
              <a:t>19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Motion evidence · Antoine Wodniack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Scroll deforms one visual system while the biography stays concise.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Use: a single spatial grammar.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Avoid: content hidden until animation completes.</a:t>
            </a:r>
          </a:p>
        </p:txBody>
      </p:sp>
      <p:pic>
        <p:nvPicPr>
          <p:cNvPr id="5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80be9bef2a41c4"/>
          <a:stretch xmlns:a="http://schemas.openxmlformats.org/drawingml/2006/main"/>
        </p:blipFill>
        <p:spPr>
          <a:xfrm xmlns:a="http://schemas.openxmlformats.org/drawingml/2006/main">
            <a:off x="6269040" y="1639392"/>
            <a:ext cx="5539740" cy="3116104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844E025A-983C-6D44-79C6-4612AACD43FC}" type="slidenum">
              <a:t>20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Motion evidence · Giacomo Modica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Tap and scroll reveal taste, personality and side work that already have meaning.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Use: interaction as evidence.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Avoid: mandatory novelty.</a:t>
            </a:r>
          </a:p>
        </p:txBody>
      </p:sp>
      <p:pic>
        <p:nvPicPr>
          <p:cNvPr id="5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6543988ba34b45"/>
          <a:stretch xmlns:a="http://schemas.openxmlformats.org/drawingml/2006/main"/>
        </p:blipFill>
        <p:spPr>
          <a:xfrm xmlns:a="http://schemas.openxmlformats.org/drawingml/2006/main">
            <a:off x="6269040" y="1639392"/>
            <a:ext cx="5539740" cy="3116104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F6DF2BE2-2DFA-1C03-677D-BDC2260D6D92}" type="slidenum">
              <a:t>21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Existing ingredient · Spatial Scan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The parked lab already moves a flat-circle point cloud through loop, scroll and orbit camera modes.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Use: connective tissue between chapters.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Avoid: turning About into a 3D tour.</a:t>
            </a:r>
          </a:p>
        </p:txBody>
      </p:sp>
      <p:pic>
        <p:nvPicPr>
          <p:cNvPr id="5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f980ae650a4bc8"/>
          <a:stretch xmlns:a="http://schemas.openxmlformats.org/drawingml/2006/main"/>
        </p:blipFill>
        <p:spPr>
          <a:xfrm xmlns:a="http://schemas.openxmlformats.org/drawingml/2006/main">
            <a:off x="6269040" y="1639392"/>
            <a:ext cx="5539740" cy="3116104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9A8DA10-BC74-F432-B483-CF813D4319A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3712696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7200"/>
              <a:t>Typography tells the story.</a:t>
            </a:r>
            <a:br/>
            <a:r>
              <a:rPr sz="7200"/>
              <a:t>Dots carry the transitions.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47DF5305-453D-AB88-8DE6-9846FEB1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1"/>
            <a:ext cx="6157826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/>
              <a:t>RECOMMENDATION</a:t>
            </a:r>
          </a:p>
        </p:txBody>
      </p:sp>
      <p:sp>
        <p:nvSpPr>
          <p:cNvPr id="8" name="Subtitle 4">
            <a:extLst xmlns:a="http://schemas.openxmlformats.org/drawingml/2006/main">
              <a:ext uri="{FF2B5EF4-FFF2-40B4-BE49-F238E27FC236}">
                <a16:creationId xmlns:a16="http://schemas.microsoft.com/office/drawing/2014/main" id="{4AE41470-6E36-D08D-AC35-CBDFACEF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1"/>
            <a:ext cx="39116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/>
              <a:t>BECK.FYI</a:t>
            </a:r>
          </a:p>
        </p:txBody>
      </p:sp>
    </p:spTree>
    <p:extLst>
      <p:ext uri="{BB962C8B-B14F-4D97-AF65-F5344CB8AC3E}">
        <p14:creationId xmlns:p14="http://schemas.microsoft.com/office/powerpoint/2010/main" val="3507737165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A4E99CEF-AF55-BA3C-ADF8-4E52E186DD8F}" type="slidenum">
              <a:t>23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FD2F4B0-1B4E-4F78-8608-85E7ADD907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488"/>
            <a:ext cx="11404600" cy="1283032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A living editorial profile: the working mind, not the résumé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Dots are connective tissue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The same material reforms with meaning.</a:t>
            </a:r>
          </a:p>
        </p:txBody>
      </p:sp>
      <p:sp>
        <p:nvSpPr>
          <p:cNvPr id="1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09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Artifacts are proof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Posters and experiments explain curiosity.</a:t>
            </a:r>
          </a:p>
        </p:txBody>
      </p:sp>
      <p:sp>
        <p:nvSpPr>
          <p:cNvPr id="1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70" y="3694102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EC1020B-1BFB-C461-94A3-B04496D4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06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BF9CE9B1-F78E-2E93-3127-A76A196D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7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Type is the narrator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One dominant sentence per scene.</a:t>
            </a:r>
          </a:p>
        </p:txBody>
      </p:sp>
      <p:sp>
        <p:nvSpPr>
          <p:cNvPr id="8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FAB1693-7B48-B899-1715-D7B6F34D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998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4ED89C7-2856-344F-42B0-44B6A09E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1" y="145052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latin typeface="Helvetica Neue Medium"/>
                <a:ea typeface="Helvetica Neue Medium"/>
                <a:cs typeface="Helvetica Neue Medium"/>
              </a:rPr>
              <a:t>Creative north star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A short factual story moves through one stable room. Typography carries meaning; the dot field reforms only when the next sentence gives it a job.</a:t>
            </a: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B3BD1300-E71C-732F-134B-B7EE0492A9B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A59AF09-D197-0193-A7DE-FAAF0B691058}" type="slidenum">
              <a:t>24</a:t>
            </a:fld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FC59BB80-DF6A-0532-F91A-4A78B8E582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one-minute reading path</a:t>
            </a:r>
          </a:p>
        </p:txBody>
      </p:sp>
      <p:graphicFrame>
        <p:nvGraphicFramePr>
          <p:cNvPr id="9" name="Table 3"/>
          <p:cNvGraphicFramePr/>
          <p:nvPr/>
        </p:nvGraphicFramePr>
        <p:xfrm>
          <a:off xmlns:a="http://schemas.openxmlformats.org/drawingml/2006/main" x="393700" y="2080009"/>
          <a:ext xmlns:a="http://schemas.openxmlformats.org/drawingml/2006/main" cx="11404600" cy="3914388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8509"/>
                <a:gridCol w="10526091"/>
              </a:tblGrid>
              <a:tr h="65239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01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0–8s · Position · one current professional thesis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5239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02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8–20s · Trajectory · three selective turns plus clients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5239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03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20–35s · Specialties · three outcome-led strengths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5239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04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35–48s · Side work · two or three artifacts with a reason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5239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05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48–56s · Next · one honest aspiration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5239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06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56–60s · Exit · one optional light interaction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5877402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595FF69-AA88-8653-2D13-3E0289A1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3AFD29D-9AD2-841D-0915-B4BDDC09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A10D6BE-4B8A-E31D-9AC6-AEB4FCD5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908090F4-C2CE-1329-8725-AC98A6AF8F6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3AE1AE4-D79E-94D6-E825-3FC6C21A77D2}" type="slidenum">
              <a:t>25</a:t>
            </a:fld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64EBD68-6C7C-E1E5-F754-A2CABD28D4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core story to 175–220 words</a:t>
            </a: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8352425-466B-B7C0-4556-B12F3F4F6DB3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02413" y="4900613"/>
            <a:ext cx="2949575" cy="819150"/>
          </a:xfrm>
        </p:spPr>
        <p:txBody>
          <a:bodyPr xmlns:a="http://schemas.openxmlformats.org/drawingml/2006/main">
            <a:normAutofit fontScale="47656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core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words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D1B4876-C319-B371-36B9-745CADB662E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541859" y="4900613"/>
            <a:ext cx="2949575" cy="819150"/>
          </a:xfrm>
        </p:spPr>
        <p:txBody>
          <a:bodyPr xmlns:a="http://schemas.openxmlformats.org/drawingml/2006/main">
            <a:normAutofit fontScale="47656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side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artifacts</a:t>
            </a:r>
          </a:p>
        </p:txBody>
      </p:sp>
      <p:sp>
        <p:nvSpPr>
          <p:cNvPr id="12" name="Content Placeholder 11">
            <a:extLst xmlns:a="http://schemas.openxmlformats.org/drawingml/2006/main">
              <a:ext uri="{FF2B5EF4-FFF2-40B4-BE49-F238E27FC236}">
                <a16:creationId xmlns:a16="http://schemas.microsoft.com/office/drawing/2014/main" id="{1BDFAF15-9B61-BA2E-0381-0DE8F578A81F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621211" y="4900613"/>
            <a:ext cx="2949575" cy="819150"/>
          </a:xfrm>
        </p:spPr>
        <p:txBody>
          <a:bodyPr xmlns:a="http://schemas.openxmlformats.org/drawingml/2006/main">
            <a:normAutofit fontScale="47656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career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turns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DBA9068-3E52-4988-B608-4CED930E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13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80399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175–220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53D01BD-BEDA-E1D7-8112-CCD78E0B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3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AE7C386-15B3-0C22-BD29-DB00B9F7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36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2–3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E38982-B0CA-BEBE-C656-B7F62835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38300"/>
            <a:ext cx="11404599" cy="15994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latin typeface="Helvetica Neue Medium"/>
                <a:ea typeface="Helvetica Neue Medium"/>
                <a:cs typeface="Helvetica Neue Medium"/>
              </a:rPr>
              <a:t>Budget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This is long enough to sound authored and short enough to read in roughly a minute. Deeper chronology and client detail can unfold on tap.</a:t>
            </a:r>
          </a:p>
        </p:txBody>
      </p:sp>
    </p:spTree>
    <p:extLst>
      <p:ext uri="{BB962C8B-B14F-4D97-AF65-F5344CB8AC3E}">
        <p14:creationId xmlns:p14="http://schemas.microsoft.com/office/powerpoint/2010/main" val="2369616825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52A30403-4B2D-2E15-7A2F-51A6DF6BE5D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5AB55966-FA28-BC73-EA9E-53DF014DF033}" type="slidenum">
              <a:t>26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488"/>
            <a:ext cx="11404600" cy="644297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Be direct without sounding full of yourself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3339053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3587937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Say this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“I turn ambiguous product problems into working systems teams can test.”</a:t>
            </a:r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828582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latin typeface="Helvetica Neue"/>
                <a:ea typeface="Helvetica Neue"/>
                <a:cs typeface="Helvetica Neue"/>
              </a:rPr>
              <a:t>Verb first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latin typeface="Helvetica Neue"/>
                <a:ea typeface="Helvetica Neue"/>
                <a:cs typeface="Helvetica Neue"/>
              </a:rPr>
              <a:t>Concrete object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latin typeface="Helvetica Neue"/>
                <a:ea typeface="Helvetica Neue"/>
                <a:cs typeface="Helvetica Neue"/>
              </a:rPr>
              <a:t>Observable consequence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5" y="3339053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3587937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Avoid this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“I deliver world-class, high-impact design across disciplines.”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4828582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latin typeface="Helvetica Neue"/>
                <a:ea typeface="Helvetica Neue"/>
                <a:cs typeface="Helvetica Neue"/>
              </a:rPr>
              <a:t>No superlatives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latin typeface="Helvetica Neue"/>
                <a:ea typeface="Helvetica Neue"/>
                <a:cs typeface="Helvetica Neue"/>
              </a:rPr>
              <a:t>No role stack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latin typeface="Helvetica Neue"/>
                <a:ea typeface="Helvetica Neue"/>
                <a:cs typeface="Helvetica Neue"/>
              </a:rPr>
              <a:t>No generic passion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15751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latin typeface="Helvetica Neue Medium"/>
                <a:ea typeface="Helvetica Neue Medium"/>
                <a:cs typeface="Helvetica Neue Medium"/>
              </a:rPr>
              <a:t>Tone equation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Confidence comes from clear decisions. Warmth comes from specificity and a little self-awareness.</a:t>
            </a:r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C152D0-CDF3-969A-A32E-0A1C97DA936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2F15020-66A7-620A-7B7A-C05C4312DEAE}" type="slidenum">
              <a:t>27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One system, four behaviors</a:t>
            </a: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Moves the camera or reorganizes one field.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65104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latin typeface="Helvetica Neue Medium"/>
                <a:ea typeface="Helvetica Neue Medium"/>
                <a:cs typeface="Helvetica Neue Medium"/>
              </a:rPr>
              <a:t>Scroll</a:t>
            </a:r>
            <a:br/>
            <a:r>
              <a:rPr sz="1600">
                <a:latin typeface="Helvetica Neue Medium"/>
                <a:ea typeface="Helvetica Neue Medium"/>
                <a:cs typeface="Helvetica Neue Medium"/>
              </a:rPr>
              <a:t>primary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Changes scale and density to mark chapters.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65104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latin typeface="Helvetica Neue Medium"/>
                <a:ea typeface="Helvetica Neue Medium"/>
                <a:cs typeface="Helvetica Neue Medium"/>
              </a:rPr>
              <a:t>Type</a:t>
            </a:r>
            <a:br/>
            <a:r>
              <a:rPr sz="1600">
                <a:latin typeface="Helvetica Neue Medium"/>
                <a:ea typeface="Helvetica Neue Medium"/>
                <a:cs typeface="Helvetica Neue Medium"/>
              </a:rPr>
              <a:t>meaning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Resolve into depth, proof clusters and artifacts.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65104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latin typeface="Helvetica Neue Medium"/>
                <a:ea typeface="Helvetica Neue Medium"/>
                <a:cs typeface="Helvetica Neue Medium"/>
              </a:rPr>
              <a:t>Dots</a:t>
            </a:r>
            <a:br/>
            <a:r>
              <a:rPr sz="1600">
                <a:latin typeface="Helvetica Neue Medium"/>
                <a:ea typeface="Helvetica Neue Medium"/>
                <a:cs typeface="Helvetica Neue Medium"/>
              </a:rPr>
              <a:t>continuity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Perturbs, unfolds or drags what is already visible.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65104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latin typeface="Helvetica Neue Medium"/>
                <a:ea typeface="Helvetica Neue Medium"/>
                <a:cs typeface="Helvetica Neue Medium"/>
              </a:rPr>
              <a:t>Touch</a:t>
            </a:r>
            <a:br/>
            <a:r>
              <a:rPr sz="1600">
                <a:latin typeface="Helvetica Neue Medium"/>
                <a:ea typeface="Helvetica Neue Medium"/>
                <a:cs typeface="Helvetica Neue Medium"/>
              </a:rPr>
              <a:t>optional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The rule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Scroll is the camera. Type controls pacing. Dots connect scenes. Tap and pointer only add local response.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Everything remains readable with reduced motion and without WebGL.</a:t>
            </a:r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68AD4375-9F50-F53A-6F9F-DD8473067C05}" type="slidenum">
              <a:t>28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Spatial Scan · narrator, not background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Existing ingredient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The parked lab already supports scroll, loop and orbit camera modes in the site’s flat-circle language.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Use it to bridge chapters, reveal depth and frame artifacts. Do not turn About into a 3D tour.</a:t>
            </a:r>
          </a:p>
        </p:txBody>
      </p:sp>
      <p:pic>
        <p:nvPicPr>
          <p:cNvPr id="5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0fff02699148c8"/>
          <a:stretch xmlns:a="http://schemas.openxmlformats.org/drawingml/2006/main"/>
        </p:blipFill>
        <p:spPr>
          <a:xfrm xmlns:a="http://schemas.openxmlformats.org/drawingml/2006/main">
            <a:off x="6269040" y="1639392"/>
            <a:ext cx="5539740" cy="3116104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41680313-6E64-04FF-399A-57B7CADE95A9}" type="slidenum">
              <a:t>29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Five rules keep the page playful and purposeful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The story must work before the effects arrive.</a:t>
            </a: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No second portfolio grid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90316"/>
            <a:ext cx="5537200" cy="28846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These are the most common failure modes across the 40-site sample.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No mandatory drag, audio or hover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No dense client-logo wall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No thin helper rings or lines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One major mechanic before the ending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5FEBBBCE-9E16-527A-0EE3-E5839422D847}" type="slidenum">
              <a:t>30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Concept 01 · Professional thesis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Hero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Large type does the positioning. A point-cloud corridor gives the line depth without adding another interface.</a:t>
            </a:r>
          </a:p>
        </p:txBody>
      </p:sp>
      <p:pic>
        <p:nvPicPr>
          <p:cNvPr id="5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1029c0cf744663"/>
          <a:srcRect xmlns:a="http://schemas.openxmlformats.org/drawingml/2006/main" l="15669" t="0" r="1566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40" y="396409"/>
            <a:ext cx="5539740" cy="560207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D172A7C5-A0CC-7B36-F236-345181E6AD72}" type="slidenum">
              <a:t>31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Concept 02 · Proof in the same room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Mid-scroll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Client names stay factual. Three artifacts interrupt the typography while the dot field reorganizes around them.</a:t>
            </a:r>
          </a:p>
        </p:txBody>
      </p:sp>
      <p:pic>
        <p:nvPicPr>
          <p:cNvPr id="5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6ab3acfc234fc7"/>
          <a:srcRect xmlns:a="http://schemas.openxmlformats.org/drawingml/2006/main" l="15669" t="0" r="1566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40" y="396409"/>
            <a:ext cx="5539740" cy="560207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66C3428B-053E-6B4E-39FF-75B44F3F33F6}" type="slidenum">
              <a:t>32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Concept 03 · Levity after credibility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Closing beat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Three personal artifacts and one draggable puck reward curiosity after the professional story is complete.</a:t>
            </a:r>
          </a:p>
        </p:txBody>
      </p:sp>
      <p:pic>
        <p:nvPicPr>
          <p:cNvPr id="5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b49c2bc3b94de3"/>
          <a:srcRect xmlns:a="http://schemas.openxmlformats.org/drawingml/2006/main" l="15669" t="0" r="1566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40" y="396409"/>
            <a:ext cx="5539740" cy="560207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59F9B2FD-F323-2D0A-D581-D6E61055F9A8}" type="slidenum">
              <a:t>33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The next phase needs five small, honest inputs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Copy comes after the creative direction is agreed.</a:t>
            </a: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One present-tense professional thesis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90316"/>
            <a:ext cx="5537200" cy="28846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The research tells us the container. A short interview should fill it with verified material.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Three trajectory turning points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Three specialties with examples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Two or three side artifacts and why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One aspiration and one human closing beat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52A30403-4B2D-2E15-7A2F-51A6DF6BE5D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D6C2EC43-E3B9-C9B0-67FF-5447EB7F3925}" type="slidenum">
              <a:t>34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488"/>
            <a:ext cx="11404600" cy="644297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Approve the system before writing the full page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3339053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3587937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Approve now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Living editorial profile + 175–220-word core + scroll-led dot field.</a:t>
            </a:r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828582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latin typeface="Helvetica Neue"/>
                <a:ea typeface="Helvetica Neue"/>
                <a:cs typeface="Helvetica Neue"/>
              </a:rPr>
              <a:t>Narrative arc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latin typeface="Helvetica Neue"/>
                <a:ea typeface="Helvetica Neue"/>
                <a:cs typeface="Helvetica Neue"/>
              </a:rPr>
              <a:t>Interaction rules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latin typeface="Helvetica Neue"/>
                <a:ea typeface="Helvetica Neue"/>
                <a:cs typeface="Helvetica Neue"/>
              </a:rPr>
              <a:t>Concept tone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5" y="3339053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3587937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Defer until next phase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Final copy, exact artifacts and final simulation states.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4828582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latin typeface="Helvetica Neue"/>
                <a:ea typeface="Helvetica Neue"/>
                <a:cs typeface="Helvetica Neue"/>
              </a:rPr>
              <a:t>Interview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latin typeface="Helvetica Neue"/>
                <a:ea typeface="Helvetica Neue"/>
                <a:cs typeface="Helvetica Neue"/>
              </a:rPr>
              <a:t>Rights and assets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latin typeface="Helvetica Neue"/>
                <a:ea typeface="Helvetica Neue"/>
                <a:cs typeface="Helvetica Neue"/>
              </a:rPr>
              <a:t>Prototype testing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15751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latin typeface="Helvetica Neue Medium"/>
                <a:ea typeface="Helvetica Neue Medium"/>
                <a:cs typeface="Helvetica Neue Medium"/>
              </a:rPr>
              <a:t>Recommended sequence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Decide the narrative and interaction model first; then interview, draft, storyboard and prototype.</a:t>
            </a:r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9A8DA10-BC74-F432-B483-CF813D4319A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3712696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7200"/>
              <a:t>The complete award-research index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47DF5305-453D-AB88-8DE6-9846FEB1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1"/>
            <a:ext cx="6157826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/>
              <a:t>APPENDIX</a:t>
            </a:r>
          </a:p>
        </p:txBody>
      </p:sp>
      <p:sp>
        <p:nvSpPr>
          <p:cNvPr id="8" name="Subtitle 4">
            <a:extLst xmlns:a="http://schemas.openxmlformats.org/drawingml/2006/main">
              <a:ext uri="{FF2B5EF4-FFF2-40B4-BE49-F238E27FC236}">
                <a16:creationId xmlns:a16="http://schemas.microsoft.com/office/drawing/2014/main" id="{4AE41470-6E36-D08D-AC35-CBDFACEF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1"/>
            <a:ext cx="39116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/>
              <a:t>40 SITES</a:t>
            </a:r>
          </a:p>
        </p:txBody>
      </p:sp>
    </p:spTree>
    <p:extLst>
      <p:ext uri="{BB962C8B-B14F-4D97-AF65-F5344CB8AC3E}">
        <p14:creationId xmlns:p14="http://schemas.microsoft.com/office/powerpoint/2010/main" val="3507737165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671F7CA-962E-B7D5-11E1-86144832BC7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15" y="6279261"/>
            <a:ext cx="518922" cy="2412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39A338D-B192-3127-EB9A-53A2665A0BB7}" type="slidenum">
              <a:t>36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EE0017B1-61AD-F17E-4365-4C53665026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4043"/>
            <a:ext cx="11404568" cy="104746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 index · 01/05</a:t>
            </a:r>
          </a:p>
        </p:txBody>
      </p:sp>
      <p:sp>
        <p:nvSpPr>
          <p:cNvPr id="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618AB53F-D83E-C97D-48FB-E643E6A7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161066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Jhosue Mesias — Portfolio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Awwwards · 95 words</a:t>
            </a:r>
          </a:p>
        </p:txBody>
      </p:sp>
      <p:sp>
        <p:nvSpPr>
          <p:cNvPr id="3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15B6FC25-43EA-8D50-20ED-40A075FC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66" y="4161066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Veronica Zubakova — Portfolio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Awwwards · 258 words</a:t>
            </a:r>
          </a:p>
        </p:txBody>
      </p:sp>
      <p:sp>
        <p:nvSpPr>
          <p:cNvPr id="5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DC86E5BF-3A43-49E0-A1B8-91615035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4161066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Sai Narayanan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Awwwards · 595 words</a:t>
            </a:r>
          </a:p>
        </p:txBody>
      </p:sp>
      <p:sp>
        <p:nvSpPr>
          <p:cNvPr id="6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941D607D-4DDA-372A-EE8A-A370B36C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679" y="4161066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Grégory Lallé — 24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Awwwards · 213 words</a:t>
            </a:r>
          </a:p>
        </p:txBody>
      </p:sp>
      <p:sp>
        <p:nvSpPr>
          <p:cNvPr id="2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8EA52868-2F57-DCC5-19D5-764181B9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208087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David Heckhoff Portfolio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Awwwards · 80 words</a:t>
            </a:r>
          </a:p>
        </p:txBody>
      </p:sp>
      <p:sp>
        <p:nvSpPr>
          <p:cNvPr id="29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751AE029-57A0-A186-E791-1A4462A1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66" y="2208087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Giats — Portfolio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Awwwards · 480 words</a:t>
            </a:r>
          </a:p>
        </p:txBody>
      </p:sp>
      <p:sp>
        <p:nvSpPr>
          <p:cNvPr id="30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84CDE6A4-554E-3362-3E09-93D47FDC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2208087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Pedro Matos Chaves · Design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Awwwards · 358 words</a:t>
            </a:r>
          </a:p>
        </p:txBody>
      </p:sp>
      <p:sp>
        <p:nvSpPr>
          <p:cNvPr id="31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E0575F69-0E47-58CD-4D15-A728423F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679" y="2208087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Thibaud Fellay — Portfolio 24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Awwwards · 205 words</a:t>
            </a:r>
          </a:p>
        </p:txBody>
      </p:sp>
    </p:spTree>
    <p:extLst>
      <p:ext uri="{BB962C8B-B14F-4D97-AF65-F5344CB8AC3E}">
        <p14:creationId xmlns:p14="http://schemas.microsoft.com/office/powerpoint/2010/main" val="343078930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671F7CA-962E-B7D5-11E1-86144832BC7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15" y="6279261"/>
            <a:ext cx="518922" cy="2412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D334276-4C85-190E-BA41-5CA1CBB04E4E}" type="slidenum">
              <a:t>37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EE0017B1-61AD-F17E-4365-4C53665026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4043"/>
            <a:ext cx="11404568" cy="104746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 index · 02/05</a:t>
            </a:r>
          </a:p>
        </p:txBody>
      </p:sp>
      <p:sp>
        <p:nvSpPr>
          <p:cNvPr id="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618AB53F-D83E-C97D-48FB-E643E6A7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161066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Dennis Snellenberg — Portfolio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Awwwards · 215 words</a:t>
            </a:r>
          </a:p>
        </p:txBody>
      </p:sp>
      <p:sp>
        <p:nvSpPr>
          <p:cNvPr id="3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15B6FC25-43EA-8D50-20ED-40A075FC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66" y="4161066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Agustin Burgos — Portfolio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Awwwards · 445 words</a:t>
            </a:r>
          </a:p>
        </p:txBody>
      </p:sp>
      <p:sp>
        <p:nvSpPr>
          <p:cNvPr id="5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DC86E5BF-3A43-49E0-A1B8-91615035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4161066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Grilled Pixels - Adam Roberts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Webby · 1670 words</a:t>
            </a:r>
          </a:p>
        </p:txBody>
      </p:sp>
      <p:sp>
        <p:nvSpPr>
          <p:cNvPr id="6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941D607D-4DDA-372A-EE8A-A370B36C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679" y="4161066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Won J. You Studios - My Story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Webby · 605 words</a:t>
            </a:r>
          </a:p>
        </p:txBody>
      </p:sp>
      <p:sp>
        <p:nvSpPr>
          <p:cNvPr id="2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8EA52868-2F57-DCC5-19D5-764181B9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208087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Jack Elder Design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Awwwards · 276 words</a:t>
            </a:r>
          </a:p>
        </p:txBody>
      </p:sp>
      <p:sp>
        <p:nvSpPr>
          <p:cNvPr id="29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751AE029-57A0-A186-E791-1A4462A1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66" y="2208087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Nalaprasad — Portfolio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Awwwards · 213 words</a:t>
            </a:r>
          </a:p>
        </p:txBody>
      </p:sp>
      <p:sp>
        <p:nvSpPr>
          <p:cNvPr id="30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84CDE6A4-554E-3362-3E09-93D47FDC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2208087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Luc Hohler Design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Awwwards · 189 words</a:t>
            </a:r>
          </a:p>
        </p:txBody>
      </p:sp>
      <p:sp>
        <p:nvSpPr>
          <p:cNvPr id="31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E0575F69-0E47-58CD-4D15-A728423F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679" y="2208087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Tomoya Okada — Portfolio v7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Awwwards · 154 words</a:t>
            </a:r>
          </a:p>
        </p:txBody>
      </p:sp>
    </p:spTree>
    <p:extLst>
      <p:ext uri="{BB962C8B-B14F-4D97-AF65-F5344CB8AC3E}">
        <p14:creationId xmlns:p14="http://schemas.microsoft.com/office/powerpoint/2010/main" val="343078930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671F7CA-962E-B7D5-11E1-86144832BC7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15" y="6279261"/>
            <a:ext cx="518922" cy="2412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5A7F00-3259-A23D-D734-A322A9F9DD63}" type="slidenum">
              <a:t>38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EE0017B1-61AD-F17E-4365-4C53665026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4043"/>
            <a:ext cx="11404568" cy="104746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 index · 03/05</a:t>
            </a:r>
          </a:p>
        </p:txBody>
      </p:sp>
      <p:sp>
        <p:nvSpPr>
          <p:cNvPr id="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618AB53F-D83E-C97D-48FB-E643E6A7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161066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Locomotive - Agency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Webby · 771 words</a:t>
            </a:r>
          </a:p>
        </p:txBody>
      </p:sp>
      <p:sp>
        <p:nvSpPr>
          <p:cNvPr id="3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15B6FC25-43EA-8D50-20ED-40A075FC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66" y="4161066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Someoddpilot - About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Webby · 984 words</a:t>
            </a:r>
          </a:p>
        </p:txBody>
      </p:sp>
      <p:sp>
        <p:nvSpPr>
          <p:cNvPr id="5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DC86E5BF-3A43-49E0-A1B8-91615035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4161066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Better Off Studio - The Lookback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Webby · 442 words</a:t>
            </a:r>
          </a:p>
        </p:txBody>
      </p:sp>
      <p:sp>
        <p:nvSpPr>
          <p:cNvPr id="6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941D607D-4DDA-372A-EE8A-A370B36C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679" y="4161066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Metalab - About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Webby · 461 words</a:t>
            </a:r>
          </a:p>
        </p:txBody>
      </p:sp>
      <p:sp>
        <p:nvSpPr>
          <p:cNvPr id="2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8EA52868-2F57-DCC5-19D5-764181B9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208087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Righteous Creative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Webby · 249 words</a:t>
            </a:r>
          </a:p>
        </p:txBody>
      </p:sp>
      <p:sp>
        <p:nvSpPr>
          <p:cNvPr id="29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751AE029-57A0-A186-E791-1A4462A1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66" y="2208087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Fiddle.Digital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Webby · 541 words</a:t>
            </a:r>
          </a:p>
        </p:txBody>
      </p:sp>
      <p:sp>
        <p:nvSpPr>
          <p:cNvPr id="30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84CDE6A4-554E-3362-3E09-93D47FDC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2208087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Raw Materials - An Unusual Design Company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Webby · 420 words</a:t>
            </a:r>
          </a:p>
        </p:txBody>
      </p:sp>
      <p:sp>
        <p:nvSpPr>
          <p:cNvPr id="31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E0575F69-0E47-58CD-4D15-A728423F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679" y="2208087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Lusion - About Us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Webby · 349 words</a:t>
            </a:r>
          </a:p>
        </p:txBody>
      </p:sp>
    </p:spTree>
    <p:extLst>
      <p:ext uri="{BB962C8B-B14F-4D97-AF65-F5344CB8AC3E}">
        <p14:creationId xmlns:p14="http://schemas.microsoft.com/office/powerpoint/2010/main" val="343078930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671F7CA-962E-B7D5-11E1-86144832BC7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15" y="6279261"/>
            <a:ext cx="518922" cy="2412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66C477-A387-35CF-F492-F54B4FA4FEC9}" type="slidenum">
              <a:t>39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EE0017B1-61AD-F17E-4365-4C53665026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4043"/>
            <a:ext cx="11404568" cy="104746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 index · 04/05</a:t>
            </a:r>
          </a:p>
        </p:txBody>
      </p:sp>
      <p:sp>
        <p:nvSpPr>
          <p:cNvPr id="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618AB53F-D83E-C97D-48FB-E643E6A7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161066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Elsa Hanneke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CSSDA · 118 words</a:t>
            </a:r>
          </a:p>
        </p:txBody>
      </p:sp>
      <p:sp>
        <p:nvSpPr>
          <p:cNvPr id="3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15B6FC25-43EA-8D50-20ED-40A075FC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66" y="4161066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Wendy Andrade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CSSDA · 127 words</a:t>
            </a:r>
          </a:p>
        </p:txBody>
      </p:sp>
      <p:sp>
        <p:nvSpPr>
          <p:cNvPr id="5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DC86E5BF-3A43-49E0-A1B8-91615035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4161066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Ania Melnik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CSSDA · 818 words</a:t>
            </a:r>
          </a:p>
        </p:txBody>
      </p:sp>
      <p:sp>
        <p:nvSpPr>
          <p:cNvPr id="6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941D607D-4DDA-372A-EE8A-A370B36C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679" y="4161066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Alex Ryan Design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CSSDA · 374 words</a:t>
            </a:r>
          </a:p>
        </p:txBody>
      </p:sp>
      <p:sp>
        <p:nvSpPr>
          <p:cNvPr id="2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8EA52868-2F57-DCC5-19D5-764181B9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208087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Dops Agency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Webby · 631 words</a:t>
            </a:r>
          </a:p>
        </p:txBody>
      </p:sp>
      <p:sp>
        <p:nvSpPr>
          <p:cNvPr id="29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751AE029-57A0-A186-E791-1A4462A1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66" y="2208087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AW Portfolio - Antoine Wodniack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Webby · 220 words</a:t>
            </a:r>
          </a:p>
        </p:txBody>
      </p:sp>
      <p:sp>
        <p:nvSpPr>
          <p:cNvPr id="30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84CDE6A4-554E-3362-3E09-93D47FDC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2208087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Mark Woodland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Webby · 503 words</a:t>
            </a:r>
          </a:p>
        </p:txBody>
      </p:sp>
      <p:sp>
        <p:nvSpPr>
          <p:cNvPr id="31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E0575F69-0E47-58CD-4D15-A728423F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679" y="2208087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Camila Rosa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CSSDA · 92 words</a:t>
            </a:r>
          </a:p>
        </p:txBody>
      </p:sp>
    </p:spTree>
    <p:extLst>
      <p:ext uri="{BB962C8B-B14F-4D97-AF65-F5344CB8AC3E}">
        <p14:creationId xmlns:p14="http://schemas.microsoft.com/office/powerpoint/2010/main" val="343078930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671F7CA-962E-B7D5-11E1-86144832BC7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15" y="6279261"/>
            <a:ext cx="518922" cy="2412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0C89EF0-BE71-8D92-BDDF-FF7D05F0AC04}" type="slidenum">
              <a:t>40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EE0017B1-61AD-F17E-4365-4C53665026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4043"/>
            <a:ext cx="11404568" cy="104746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 index · 05/05</a:t>
            </a:r>
          </a:p>
        </p:txBody>
      </p:sp>
      <p:sp>
        <p:nvSpPr>
          <p:cNvPr id="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618AB53F-D83E-C97D-48FB-E643E6A7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161066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AKIS.STUDIO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CSSDA · 494 words</a:t>
            </a:r>
          </a:p>
        </p:txBody>
      </p:sp>
      <p:sp>
        <p:nvSpPr>
          <p:cNvPr id="3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15B6FC25-43EA-8D50-20ED-40A075FC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66" y="4161066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Jess Hill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CSSDA · 2311 words</a:t>
            </a:r>
          </a:p>
        </p:txBody>
      </p:sp>
      <p:sp>
        <p:nvSpPr>
          <p:cNvPr id="5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DC86E5BF-3A43-49E0-A1B8-91615035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4161066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Bogdan Kolomiyets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CSSDA · 320 words</a:t>
            </a:r>
          </a:p>
        </p:txBody>
      </p:sp>
      <p:sp>
        <p:nvSpPr>
          <p:cNvPr id="6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941D607D-4DDA-372A-EE8A-A370B36C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679" y="4161066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Giacomo Agnello Modica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CSSDA · 226 words</a:t>
            </a:r>
          </a:p>
        </p:txBody>
      </p:sp>
      <p:sp>
        <p:nvSpPr>
          <p:cNvPr id="2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8EA52868-2F57-DCC5-19D5-764181B9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208087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Luca Ravanelli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CSSDA · 277 words</a:t>
            </a:r>
          </a:p>
        </p:txBody>
      </p:sp>
      <p:sp>
        <p:nvSpPr>
          <p:cNvPr id="29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751AE029-57A0-A186-E791-1A4462A1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66" y="2208087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Maria Vareva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CSSDA · 151 words</a:t>
            </a:r>
          </a:p>
        </p:txBody>
      </p:sp>
      <p:sp>
        <p:nvSpPr>
          <p:cNvPr id="30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84CDE6A4-554E-3362-3E09-93D47FDC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2208087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Aya El Ouahdani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CSSDA · 397 words</a:t>
            </a:r>
          </a:p>
        </p:txBody>
      </p:sp>
      <p:sp>
        <p:nvSpPr>
          <p:cNvPr id="31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E0575F69-0E47-58CD-4D15-A728423F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679" y="2208087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Stan Khoruzhenko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CSSDA · 361 words</a:t>
            </a:r>
          </a:p>
        </p:txBody>
      </p:sp>
    </p:spTree>
    <p:extLst>
      <p:ext uri="{BB962C8B-B14F-4D97-AF65-F5344CB8AC3E}">
        <p14:creationId xmlns:p14="http://schemas.microsoft.com/office/powerpoint/2010/main" val="343078930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979AC8B6-148F-970D-D8DE-AD2E0AB19BC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7200"/>
              <a:t>Shape the story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A8E1F2E1-786A-48AE-5E52-0072282842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973320"/>
            <a:ext cx="3568700" cy="10802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000"/>
              <a:t>Interview and verify the narrative · choose artifacts and media</a:t>
            </a:r>
          </a:p>
          <a:p xmlns:a="http://schemas.openxmlformats.org/drawingml/2006/main">
            <a:r>
              <a:rPr sz="2000"/>
              <a:t>Prototype the scroll system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A94AB779-D110-4562-575A-800C929A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16129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/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3653678558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2026-07-12T15:05:33.7700000Z</dcterms:created>
  <dcterms:modified xsi:type="dcterms:W3CDTF">2026-07-12T15:05:33.7700000Z</dcterms:modified>
</coreProperties>
</file>